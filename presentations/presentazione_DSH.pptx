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71" r:id="rId8"/>
    <p:sldId id="268" r:id="rId9"/>
    <p:sldId id="272" r:id="rId10"/>
    <p:sldId id="267" r:id="rId11"/>
    <p:sldId id="269" r:id="rId12"/>
    <p:sldId id="270" r:id="rId13"/>
    <p:sldId id="273" r:id="rId14"/>
    <p:sldId id="275" r:id="rId15"/>
    <p:sldId id="276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4EF"/>
    <a:srgbClr val="66422B"/>
    <a:srgbClr val="523624"/>
    <a:srgbClr val="9C6541"/>
    <a:srgbClr val="B2734A"/>
    <a:srgbClr val="714A31"/>
    <a:srgbClr val="C98254"/>
    <a:srgbClr val="E9B18E"/>
    <a:srgbClr val="E29B6D"/>
    <a:srgbClr val="ECBC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462"/>
    <p:restoredTop sz="94668"/>
  </p:normalViewPr>
  <p:slideViewPr>
    <p:cSldViewPr snapToGrid="0">
      <p:cViewPr>
        <p:scale>
          <a:sx n="82" d="100"/>
          <a:sy n="82" d="100"/>
        </p:scale>
        <p:origin x="2168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E3CB74-3084-FB74-9EE4-DF627B9CA0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492B7E2-7376-73F7-77C8-7113D724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FF11A6B-9945-2CF4-14EC-8601BD28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62999E4-D6DB-0DC2-51D0-5F29095F9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13E8604-A43C-FB75-BA44-8476297A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1162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678C138-6E4E-FA25-86F0-F2BBCA82F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FC1CD3F-1D75-4062-49A3-6A6F26971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0B3E6C1-30F1-7DEC-9214-D6ED821A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DCE0B0-1C64-E3EA-417E-8A4F4531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5F81FA-E74D-D80C-2270-D87D94330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0156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DE06CF-4C7E-1827-6E57-9BEA55F30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97538CF-D692-1DDA-855C-3B79F8581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376C12-FC1B-46FE-DF6D-04A7D6BB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6467D9D-5C17-9E8C-37FA-A24F5B9B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11E12C-8D72-D724-A1A6-B3A38CA76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1767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711643D-D3C3-3C94-5DA0-D33047A4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F044C0C-643F-EF69-D798-DE0C45F803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C0B7459-993F-3A44-E400-4F7AE5BEC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C9C27EA-EFF7-FB33-10DA-0B3887F9B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E3D8F80-745B-D908-625E-F8A0EEF4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1DC867-86E8-AFDA-C45E-414E6B45E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997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89BBE5-7123-5F65-ABB2-447629ADA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B7F4673-DCAF-BAD9-480A-A5B256D9C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07C1C6F-C992-7FA4-B5C4-3B4020D97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771F089-4EC8-7A75-CCCA-EC293B5B8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59CCF2E-6A71-ACC1-8A15-F981C6396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C53083E-D883-9A36-154D-0037DCADF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E2A43A42-DF99-85A6-BEEC-6D3D28407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27DBE4D-B7BC-C2A7-7BE8-0F73B16DD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4919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91FB9A-29BA-001D-F925-DF26EE04A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1FF956F-9D9F-A19D-3AC8-749ABCF7C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EAA608F8-C10C-5AAE-6F8D-13F909B7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A11A7B1E-9A1A-584A-6DAC-56BB36163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135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5BAD32A-3C8E-4CA5-677A-5D494855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3B6F0B2-BC45-4C62-C427-C27848DF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0D596E8-6FAF-D4D6-2856-D4E46F52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6903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5CDF7E-E3E0-2025-56C3-93D1B806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1EDFDF-D21D-EDA5-8AE9-2A68DF8CD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5D470E5-8585-C0CE-94B9-50604DA608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636A3C1-704F-1171-B994-D9B94CFD2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EB22DD-A2EE-DD3E-6413-697EB30EF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551724B-F9E4-C0EF-85E5-0C0D74A4D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53990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D82641-48F1-4B50-4564-6CD73E582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776AD33-260D-21A2-35E5-88152A47E1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67F0A02-83CF-FF32-D53D-9C4E949F6F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492039E-CB7F-6808-CC33-15823D88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5592083-4B07-88F1-AC18-1E17E191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134518E-FDDE-41DD-4E29-B65229EC7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32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66414-A454-232A-724B-2F45D4E0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F436332-977D-9609-56BC-B73999BDE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70525A-44FE-1F08-D944-46C7EE710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466438-D6E8-A630-1097-3FC32AF4F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CFF26D-0D8B-3722-6D24-0789DA70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378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EA5B4A0-2F95-50B4-8536-7B2C439CE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EF312AC-B5FC-F9AE-C660-9E29199AA2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2214840-FC6F-2F35-87FE-E1E5B8AF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D3F3F66-5360-0774-9BA6-3A4ECCEB8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600BDEB-5DE3-2E92-3964-F82CA020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7078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389B5A1-5390-93AE-1CA2-488D90E7A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54D0EC4-ABA2-7464-6EE2-6446A1650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ABAA97-B562-7534-B8BA-93B16A6228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05DD8-C81E-EC4F-B018-C4DCEDC72D91}" type="datetimeFigureOut">
              <a:rPr lang="it-IT" smtClean="0"/>
              <a:t>06/01/26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A516931-2896-ED43-95B2-B552044192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EFFEC89-4BE6-70CC-150B-3336F86A2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0D255-DC17-604A-B5A0-FCB97DA271A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8299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0.svg"/><Relationship Id="rId7" Type="http://schemas.openxmlformats.org/officeDocument/2006/relationships/image" Target="../media/image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svg"/><Relationship Id="rId5" Type="http://schemas.openxmlformats.org/officeDocument/2006/relationships/image" Target="../media/image2.svg"/><Relationship Id="rId10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svg"/><Relationship Id="rId7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svg"/><Relationship Id="rId5" Type="http://schemas.openxmlformats.org/officeDocument/2006/relationships/image" Target="../media/image10.svg"/><Relationship Id="rId10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sv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2.svg"/><Relationship Id="rId21" Type="http://schemas.openxmlformats.org/officeDocument/2006/relationships/image" Target="../media/image21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1.png"/><Relationship Id="rId16" Type="http://schemas.openxmlformats.org/officeDocument/2006/relationships/image" Target="../media/image17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5.png"/><Relationship Id="rId10" Type="http://schemas.openxmlformats.org/officeDocument/2006/relationships/image" Target="../media/image9.png"/><Relationship Id="rId19" Type="http://schemas.openxmlformats.org/officeDocument/2006/relationships/image" Target="../media/image20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4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23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85C2A-F43C-8042-9CE8-DB5D93E0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1868D291-CF89-3B2C-6012-EADD2CDE59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D1DAAD9-CB94-DF2E-4132-763527DDA229}"/>
              </a:ext>
            </a:extLst>
          </p:cNvPr>
          <p:cNvGrpSpPr/>
          <p:nvPr/>
        </p:nvGrpSpPr>
        <p:grpSpPr>
          <a:xfrm>
            <a:off x="5968410" y="-144515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3834CE21-98FA-F610-A4CD-A104C36E2A41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79501B48-5EF9-FB91-FCB8-B9514DF8F340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1B8025F0-2241-68B8-76E1-68DF19F639C2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973D3849-1031-9ADD-6DF3-4AA8A57271FE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CEEA4C6B-0335-2EB5-0DF6-CAB44C9F923B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2E5D736D-51B1-A423-CDAA-E4C505AEBB5E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27DF665C-02DF-BDFF-0D78-D0F5DF2E6266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C4052EC2-0AA2-8DF0-8416-7EDB7D1D3F55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E29055AF-875F-1DBC-6EB2-36280BB2076E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CACC8B6-5392-4156-B1B6-E105A51FE18C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5181B9E5-57FD-CEEC-D3FD-66D26464D3C7}"/>
              </a:ext>
            </a:extLst>
          </p:cNvPr>
          <p:cNvSpPr/>
          <p:nvPr/>
        </p:nvSpPr>
        <p:spPr>
          <a:xfrm>
            <a:off x="2490217" y="11921"/>
            <a:ext cx="6096000" cy="6858000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02FE936-8143-1C16-F876-7D6E21BD6EE4}"/>
              </a:ext>
            </a:extLst>
          </p:cNvPr>
          <p:cNvSpPr txBox="1"/>
          <p:nvPr/>
        </p:nvSpPr>
        <p:spPr>
          <a:xfrm>
            <a:off x="264617" y="297437"/>
            <a:ext cx="5794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Radiomics-Based CAD System </a:t>
            </a:r>
            <a:r>
              <a:rPr lang="it-IT" sz="24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for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CT Colonography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Lesion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Classification</a:t>
            </a:r>
            <a:endParaRPr lang="it-IT" sz="36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17429B5-7A1D-DA58-B471-B269C66FB7F1}"/>
              </a:ext>
            </a:extLst>
          </p:cNvPr>
          <p:cNvSpPr/>
          <p:nvPr/>
        </p:nvSpPr>
        <p:spPr>
          <a:xfrm>
            <a:off x="-7831328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C69C4C54-6C67-29FA-EF95-14AD7822F6BB}"/>
              </a:ext>
            </a:extLst>
          </p:cNvPr>
          <p:cNvSpPr/>
          <p:nvPr/>
        </p:nvSpPr>
        <p:spPr>
          <a:xfrm>
            <a:off x="-7833951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E9A0296F-64F2-A199-DC3D-E4725D938B27}"/>
              </a:ext>
            </a:extLst>
          </p:cNvPr>
          <p:cNvSpPr/>
          <p:nvPr/>
        </p:nvSpPr>
        <p:spPr>
          <a:xfrm>
            <a:off x="-7824881" y="59607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4CEF813E-63CF-5B24-ADB7-969566AD93D5}"/>
              </a:ext>
            </a:extLst>
          </p:cNvPr>
          <p:cNvSpPr/>
          <p:nvPr/>
        </p:nvSpPr>
        <p:spPr>
          <a:xfrm>
            <a:off x="-783891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D6A8DFD7-896A-7567-EFE3-07138511FC8D}"/>
              </a:ext>
            </a:extLst>
          </p:cNvPr>
          <p:cNvSpPr/>
          <p:nvPr/>
        </p:nvSpPr>
        <p:spPr>
          <a:xfrm>
            <a:off x="-7838919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B9A7ACCE-D5F1-9103-22C4-F41D0540F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793779" y="59937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632670C0-FF4D-C25C-0A23-6EC30D6184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782871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DE07905D-73B1-3CCE-0F8B-2834263961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783312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3CA7342B-2986-0AA9-F77D-2670F0300D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79095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1E8605DB-4C4D-9FFA-88BE-2F9961C38DF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776971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97B6F570-75A0-AD32-0811-FE6A0DD8565F}"/>
              </a:ext>
            </a:extLst>
          </p:cNvPr>
          <p:cNvSpPr txBox="1"/>
          <p:nvPr/>
        </p:nvSpPr>
        <p:spPr>
          <a:xfrm>
            <a:off x="-7194910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57A2165F-9BCD-3F80-F081-7EFD980AAB1C}"/>
              </a:ext>
            </a:extLst>
          </p:cNvPr>
          <p:cNvSpPr txBox="1"/>
          <p:nvPr/>
        </p:nvSpPr>
        <p:spPr>
          <a:xfrm>
            <a:off x="-704170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F9592394-5B44-DF57-5B6D-95F663DFCDB5}"/>
              </a:ext>
            </a:extLst>
          </p:cNvPr>
          <p:cNvSpPr txBox="1"/>
          <p:nvPr/>
        </p:nvSpPr>
        <p:spPr>
          <a:xfrm>
            <a:off x="-7035261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385D77E6-E58D-EB33-DA5A-0F8743873645}"/>
              </a:ext>
            </a:extLst>
          </p:cNvPr>
          <p:cNvSpPr txBox="1"/>
          <p:nvPr/>
        </p:nvSpPr>
        <p:spPr>
          <a:xfrm>
            <a:off x="-7051011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DD07D400-C148-2744-8461-14BC3AE45256}"/>
              </a:ext>
            </a:extLst>
          </p:cNvPr>
          <p:cNvSpPr txBox="1"/>
          <p:nvPr/>
        </p:nvSpPr>
        <p:spPr>
          <a:xfrm>
            <a:off x="-7115083" y="59721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4F82DACF-ACA8-BC5F-CF54-F2A6104BEDDD}"/>
              </a:ext>
            </a:extLst>
          </p:cNvPr>
          <p:cNvSpPr/>
          <p:nvPr/>
        </p:nvSpPr>
        <p:spPr>
          <a:xfrm>
            <a:off x="-2197100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23" name="Connettore dritto 22">
            <a:extLst>
              <a:ext uri="{FF2B5EF4-FFF2-40B4-BE49-F238E27FC236}">
                <a16:creationId xmlns:a16="http://schemas.microsoft.com/office/drawing/2014/main" id="{13DCED12-079A-792B-10C2-C686A851C08F}"/>
              </a:ext>
            </a:extLst>
          </p:cNvPr>
          <p:cNvCxnSpPr/>
          <p:nvPr/>
        </p:nvCxnSpPr>
        <p:spPr>
          <a:xfrm>
            <a:off x="385011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63F814-EC35-C9E0-5190-333DFABF6B7F}"/>
              </a:ext>
            </a:extLst>
          </p:cNvPr>
          <p:cNvSpPr txBox="1"/>
          <p:nvPr/>
        </p:nvSpPr>
        <p:spPr>
          <a:xfrm>
            <a:off x="9677837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6522A5E2-01AF-9E1D-AE45-CE18C0C72AC9}"/>
              </a:ext>
            </a:extLst>
          </p:cNvPr>
          <p:cNvSpPr/>
          <p:nvPr/>
        </p:nvSpPr>
        <p:spPr>
          <a:xfrm>
            <a:off x="6966915" y="376390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0773ECE6-D43D-B727-954E-685745579ABC}"/>
              </a:ext>
            </a:extLst>
          </p:cNvPr>
          <p:cNvSpPr/>
          <p:nvPr/>
        </p:nvSpPr>
        <p:spPr>
          <a:xfrm>
            <a:off x="6905529" y="3332519"/>
            <a:ext cx="493295" cy="493295"/>
          </a:xfrm>
          <a:prstGeom prst="ellipse">
            <a:avLst/>
          </a:prstGeom>
          <a:solidFill>
            <a:srgbClr val="E9B18E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B96F9F82-B42C-A4D6-F173-B19F85C46DF9}"/>
              </a:ext>
            </a:extLst>
          </p:cNvPr>
          <p:cNvSpPr/>
          <p:nvPr/>
        </p:nvSpPr>
        <p:spPr>
          <a:xfrm>
            <a:off x="7303713" y="258488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75F36678-9E64-54D1-6057-E6A28ED1F3D1}"/>
              </a:ext>
            </a:extLst>
          </p:cNvPr>
          <p:cNvSpPr/>
          <p:nvPr/>
        </p:nvSpPr>
        <p:spPr>
          <a:xfrm>
            <a:off x="8125025" y="374184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BAC88967-9306-DEA8-DFEC-1C83CB7C96A2}"/>
              </a:ext>
            </a:extLst>
          </p:cNvPr>
          <p:cNvSpPr/>
          <p:nvPr/>
        </p:nvSpPr>
        <p:spPr>
          <a:xfrm>
            <a:off x="9640459" y="35791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5D70C7FA-3456-F703-F90D-1B87E40689C4}"/>
              </a:ext>
            </a:extLst>
          </p:cNvPr>
          <p:cNvSpPr/>
          <p:nvPr/>
        </p:nvSpPr>
        <p:spPr>
          <a:xfrm>
            <a:off x="9042142" y="4379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3AB485EE-8DB5-B21D-A08E-68371CFF60CC}"/>
              </a:ext>
            </a:extLst>
          </p:cNvPr>
          <p:cNvSpPr/>
          <p:nvPr/>
        </p:nvSpPr>
        <p:spPr>
          <a:xfrm>
            <a:off x="9199561" y="514215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54BB3589-A2DE-2FEE-D587-5656DBDB7BE7}"/>
              </a:ext>
            </a:extLst>
          </p:cNvPr>
          <p:cNvSpPr/>
          <p:nvPr/>
        </p:nvSpPr>
        <p:spPr>
          <a:xfrm>
            <a:off x="10239588" y="493994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6B4F6208-8830-00A8-51EB-A158862CC0BE}"/>
              </a:ext>
            </a:extLst>
          </p:cNvPr>
          <p:cNvSpPr/>
          <p:nvPr/>
        </p:nvSpPr>
        <p:spPr>
          <a:xfrm>
            <a:off x="11146971" y="431116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BFA46BC0-FCFA-C51B-D977-92C3FFE7FE77}"/>
              </a:ext>
            </a:extLst>
          </p:cNvPr>
          <p:cNvSpPr/>
          <p:nvPr/>
        </p:nvSpPr>
        <p:spPr>
          <a:xfrm>
            <a:off x="7238811" y="2152500"/>
            <a:ext cx="493295" cy="493295"/>
          </a:xfrm>
          <a:prstGeom prst="ellipse">
            <a:avLst/>
          </a:prstGeom>
          <a:gradFill flip="none" rotWithShape="1">
            <a:gsLst>
              <a:gs pos="0">
                <a:srgbClr val="E9B18E">
                  <a:alpha val="37000"/>
                </a:srgbClr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DECE623B-495D-112F-6854-98D634880124}"/>
              </a:ext>
            </a:extLst>
          </p:cNvPr>
          <p:cNvSpPr/>
          <p:nvPr/>
        </p:nvSpPr>
        <p:spPr>
          <a:xfrm>
            <a:off x="9140627" y="4727581"/>
            <a:ext cx="493295" cy="493295"/>
          </a:xfrm>
          <a:prstGeom prst="ellipse">
            <a:avLst/>
          </a:prstGeom>
          <a:solidFill>
            <a:srgbClr val="C98254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4178BF0E-A10F-E24A-8441-02EAFE10D6C5}"/>
              </a:ext>
            </a:extLst>
          </p:cNvPr>
          <p:cNvSpPr/>
          <p:nvPr/>
        </p:nvSpPr>
        <p:spPr>
          <a:xfrm>
            <a:off x="8055122" y="3324627"/>
            <a:ext cx="493295" cy="493295"/>
          </a:xfrm>
          <a:prstGeom prst="ellipse">
            <a:avLst/>
          </a:prstGeom>
          <a:solidFill>
            <a:srgbClr val="E5A67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8F0AE37F-BFB6-0FE2-15AB-AE8AA0BCBB88}"/>
              </a:ext>
            </a:extLst>
          </p:cNvPr>
          <p:cNvSpPr/>
          <p:nvPr/>
        </p:nvSpPr>
        <p:spPr>
          <a:xfrm>
            <a:off x="8977240" y="3958243"/>
            <a:ext cx="493295" cy="493295"/>
          </a:xfrm>
          <a:prstGeom prst="ellipse">
            <a:avLst/>
          </a:prstGeom>
          <a:solidFill>
            <a:srgbClr val="DF905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Ovale 55">
            <a:extLst>
              <a:ext uri="{FF2B5EF4-FFF2-40B4-BE49-F238E27FC236}">
                <a16:creationId xmlns:a16="http://schemas.microsoft.com/office/drawing/2014/main" id="{1E58E5D7-72A5-78AF-1C25-1684FE3DC75F}"/>
              </a:ext>
            </a:extLst>
          </p:cNvPr>
          <p:cNvSpPr/>
          <p:nvPr/>
        </p:nvSpPr>
        <p:spPr>
          <a:xfrm>
            <a:off x="9575557" y="3145327"/>
            <a:ext cx="493295" cy="493295"/>
          </a:xfrm>
          <a:prstGeom prst="ellipse">
            <a:avLst/>
          </a:prstGeom>
          <a:solidFill>
            <a:srgbClr val="E29B6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C171EB75-4EDF-DF08-3335-2635E10D197B}"/>
              </a:ext>
            </a:extLst>
          </p:cNvPr>
          <p:cNvSpPr/>
          <p:nvPr/>
        </p:nvSpPr>
        <p:spPr>
          <a:xfrm>
            <a:off x="11081290" y="3655021"/>
            <a:ext cx="754868" cy="754868"/>
          </a:xfrm>
          <a:prstGeom prst="ellipse">
            <a:avLst/>
          </a:prstGeom>
          <a:solidFill>
            <a:srgbClr val="9C6541">
              <a:alpha val="37000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148D0E72-5DA1-440A-76E0-D22A700D32ED}"/>
              </a:ext>
            </a:extLst>
          </p:cNvPr>
          <p:cNvSpPr/>
          <p:nvPr/>
        </p:nvSpPr>
        <p:spPr>
          <a:xfrm>
            <a:off x="10174686" y="4524969"/>
            <a:ext cx="493295" cy="493295"/>
          </a:xfrm>
          <a:prstGeom prst="ellipse">
            <a:avLst/>
          </a:prstGeom>
          <a:solidFill>
            <a:srgbClr val="B2734A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20223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2156-304B-B972-4D57-614325EB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89C667C2-A5B6-FF90-7CF6-EB9EB38494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5B7BE46-22E4-4FBF-C46D-78D16E2B33F8}"/>
              </a:ext>
            </a:extLst>
          </p:cNvPr>
          <p:cNvGrpSpPr/>
          <p:nvPr/>
        </p:nvGrpSpPr>
        <p:grpSpPr>
          <a:xfrm>
            <a:off x="5968410" y="-144515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02AB9411-12D6-71FA-CA9C-2691D1000470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F797E196-248D-6CDC-E215-D34991303A06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10B57E7E-7328-C5D5-7CA4-6AADC7A9F8B1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15349E52-C841-8193-F104-CEA88C766BAE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B89CE1FB-3897-F72E-D99C-9E71848E4DA0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4B5DE825-6527-E722-12A5-E5A432311AAD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D2A45139-3300-01F9-B968-85DCAD0D0588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68CDFAB0-32A9-4DDC-F8B2-66919D823086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0EAA4382-0A1C-F1E7-AA4A-8E3C12E25163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7FEC85FE-BFA6-394E-12DE-DDA68C7DB422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622FF329-0D5C-6DA6-5281-07AD13658572}"/>
              </a:ext>
            </a:extLst>
          </p:cNvPr>
          <p:cNvSpPr/>
          <p:nvPr/>
        </p:nvSpPr>
        <p:spPr>
          <a:xfrm>
            <a:off x="2490217" y="11921"/>
            <a:ext cx="6096000" cy="6858000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B0AC9AF2-B776-4384-4B08-84EABD7048D4}"/>
              </a:ext>
            </a:extLst>
          </p:cNvPr>
          <p:cNvSpPr txBox="1"/>
          <p:nvPr/>
        </p:nvSpPr>
        <p:spPr>
          <a:xfrm>
            <a:off x="264617" y="297437"/>
            <a:ext cx="5794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Radiomics-Based CAD System </a:t>
            </a:r>
            <a:r>
              <a:rPr lang="it-IT" sz="24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for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CT Colonography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Lesion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Classification</a:t>
            </a:r>
            <a:endParaRPr lang="it-IT" sz="36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202E4479-1F31-2D01-E6E7-A9A4A4CFBE8C}"/>
              </a:ext>
            </a:extLst>
          </p:cNvPr>
          <p:cNvSpPr/>
          <p:nvPr/>
        </p:nvSpPr>
        <p:spPr>
          <a:xfrm>
            <a:off x="499872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AEEDCC99-1111-A188-102B-92BDD1272E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4229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965B41A9-5ECD-BC43-9C28-3591907BBE5A}"/>
              </a:ext>
            </a:extLst>
          </p:cNvPr>
          <p:cNvSpPr txBox="1"/>
          <p:nvPr/>
        </p:nvSpPr>
        <p:spPr>
          <a:xfrm>
            <a:off x="1136290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40CCFE0-0D1F-2A3B-6B13-A28D6A3BBC42}"/>
              </a:ext>
            </a:extLst>
          </p:cNvPr>
          <p:cNvSpPr/>
          <p:nvPr/>
        </p:nvSpPr>
        <p:spPr>
          <a:xfrm>
            <a:off x="-7833951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70BB45D0-3E19-1976-CDF6-8C01864BE2FD}"/>
              </a:ext>
            </a:extLst>
          </p:cNvPr>
          <p:cNvSpPr/>
          <p:nvPr/>
        </p:nvSpPr>
        <p:spPr>
          <a:xfrm>
            <a:off x="-7824881" y="59607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E0671630-8F8F-4742-A729-6C1E28168F22}"/>
              </a:ext>
            </a:extLst>
          </p:cNvPr>
          <p:cNvSpPr/>
          <p:nvPr/>
        </p:nvSpPr>
        <p:spPr>
          <a:xfrm>
            <a:off x="-783891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B9219D9E-7904-F1B4-3B02-B711FD3DC69F}"/>
              </a:ext>
            </a:extLst>
          </p:cNvPr>
          <p:cNvSpPr/>
          <p:nvPr/>
        </p:nvSpPr>
        <p:spPr>
          <a:xfrm>
            <a:off x="-7838919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8" name="Elemento grafico 17" descr="Stetoscopio con riempimento a tinta unita">
            <a:extLst>
              <a:ext uri="{FF2B5EF4-FFF2-40B4-BE49-F238E27FC236}">
                <a16:creationId xmlns:a16="http://schemas.microsoft.com/office/drawing/2014/main" id="{5FC71880-44CC-A285-C189-3BBB9697A6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7793779" y="5993702"/>
            <a:ext cx="501669" cy="501669"/>
          </a:xfrm>
          <a:prstGeom prst="rect">
            <a:avLst/>
          </a:prstGeom>
        </p:spPr>
      </p:pic>
      <p:pic>
        <p:nvPicPr>
          <p:cNvPr id="22" name="Elemento grafico 21" descr="Braccio muscoloso con riempimento a tinta unita">
            <a:extLst>
              <a:ext uri="{FF2B5EF4-FFF2-40B4-BE49-F238E27FC236}">
                <a16:creationId xmlns:a16="http://schemas.microsoft.com/office/drawing/2014/main" id="{B2AA314F-4EF1-E684-220B-763E740954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782871" y="5272750"/>
            <a:ext cx="511584" cy="511584"/>
          </a:xfrm>
          <a:prstGeom prst="rect">
            <a:avLst/>
          </a:prstGeom>
        </p:spPr>
      </p:pic>
      <p:pic>
        <p:nvPicPr>
          <p:cNvPr id="24" name="Elemento grafico 23" descr="Badge Segno di spunta con riempimento a tinta unita">
            <a:extLst>
              <a:ext uri="{FF2B5EF4-FFF2-40B4-BE49-F238E27FC236}">
                <a16:creationId xmlns:a16="http://schemas.microsoft.com/office/drawing/2014/main" id="{C88966BA-138F-9908-DA13-0A34F2BD24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783312" y="4564565"/>
            <a:ext cx="539730" cy="539730"/>
          </a:xfrm>
          <a:prstGeom prst="rect">
            <a:avLst/>
          </a:prstGeom>
        </p:spPr>
      </p:pic>
      <p:pic>
        <p:nvPicPr>
          <p:cNvPr id="25" name="Elemento grafico 24" descr="Tris con riempimento a tinta unita">
            <a:extLst>
              <a:ext uri="{FF2B5EF4-FFF2-40B4-BE49-F238E27FC236}">
                <a16:creationId xmlns:a16="http://schemas.microsoft.com/office/drawing/2014/main" id="{B679122C-1258-EBC8-F760-6C43503F15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790954" y="3864944"/>
            <a:ext cx="547372" cy="547372"/>
          </a:xfrm>
          <a:prstGeom prst="rect">
            <a:avLst/>
          </a:prstGeom>
        </p:spPr>
      </p:pic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BD77A757-F868-6A31-CAEC-5CC2C6907A6D}"/>
              </a:ext>
            </a:extLst>
          </p:cNvPr>
          <p:cNvSpPr txBox="1"/>
          <p:nvPr/>
        </p:nvSpPr>
        <p:spPr>
          <a:xfrm>
            <a:off x="-704170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34426CFF-A806-3906-D9A8-88AF47237D93}"/>
              </a:ext>
            </a:extLst>
          </p:cNvPr>
          <p:cNvSpPr txBox="1"/>
          <p:nvPr/>
        </p:nvSpPr>
        <p:spPr>
          <a:xfrm>
            <a:off x="-7035261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973451A7-E012-B165-AA85-73B95C41538D}"/>
              </a:ext>
            </a:extLst>
          </p:cNvPr>
          <p:cNvSpPr txBox="1"/>
          <p:nvPr/>
        </p:nvSpPr>
        <p:spPr>
          <a:xfrm>
            <a:off x="-7051011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EBA55BCF-A6C8-36FA-57EB-2E4A87D1D4D4}"/>
              </a:ext>
            </a:extLst>
          </p:cNvPr>
          <p:cNvSpPr txBox="1"/>
          <p:nvPr/>
        </p:nvSpPr>
        <p:spPr>
          <a:xfrm>
            <a:off x="-7115083" y="59721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92132F66-119D-9D0A-94E1-C15D24CABF5A}"/>
              </a:ext>
            </a:extLst>
          </p:cNvPr>
          <p:cNvSpPr/>
          <p:nvPr/>
        </p:nvSpPr>
        <p:spPr>
          <a:xfrm>
            <a:off x="-2197100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4CD6F633-06D3-C4EC-42E7-C1B818DF9963}"/>
              </a:ext>
            </a:extLst>
          </p:cNvPr>
          <p:cNvSpPr txBox="1"/>
          <p:nvPr/>
        </p:nvSpPr>
        <p:spPr>
          <a:xfrm>
            <a:off x="11366500" y="8013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dirty="0"/>
          </a:p>
        </p:txBody>
      </p:sp>
      <p:cxnSp>
        <p:nvCxnSpPr>
          <p:cNvPr id="58" name="Connettore dritto 57">
            <a:extLst>
              <a:ext uri="{FF2B5EF4-FFF2-40B4-BE49-F238E27FC236}">
                <a16:creationId xmlns:a16="http://schemas.microsoft.com/office/drawing/2014/main" id="{9183732E-A411-497A-BC8E-8ED3A15A7057}"/>
              </a:ext>
            </a:extLst>
          </p:cNvPr>
          <p:cNvCxnSpPr/>
          <p:nvPr/>
        </p:nvCxnSpPr>
        <p:spPr>
          <a:xfrm>
            <a:off x="385011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48C9494D-FB7A-79EA-4FF2-BA3FA7D66A6C}"/>
              </a:ext>
            </a:extLst>
          </p:cNvPr>
          <p:cNvSpPr txBox="1"/>
          <p:nvPr/>
        </p:nvSpPr>
        <p:spPr>
          <a:xfrm>
            <a:off x="9677837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05804E31-3D78-CF5A-99B6-3822E8DE889D}"/>
              </a:ext>
            </a:extLst>
          </p:cNvPr>
          <p:cNvSpPr/>
          <p:nvPr/>
        </p:nvSpPr>
        <p:spPr>
          <a:xfrm>
            <a:off x="6966915" y="376390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89552000-8292-6599-2872-75005B5F7BA3}"/>
              </a:ext>
            </a:extLst>
          </p:cNvPr>
          <p:cNvSpPr/>
          <p:nvPr/>
        </p:nvSpPr>
        <p:spPr>
          <a:xfrm>
            <a:off x="6905529" y="3332519"/>
            <a:ext cx="493295" cy="493295"/>
          </a:xfrm>
          <a:prstGeom prst="ellipse">
            <a:avLst/>
          </a:prstGeom>
          <a:solidFill>
            <a:srgbClr val="E9B18E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35202E47-0BA5-BED6-6387-963E3C61D30F}"/>
              </a:ext>
            </a:extLst>
          </p:cNvPr>
          <p:cNvSpPr/>
          <p:nvPr/>
        </p:nvSpPr>
        <p:spPr>
          <a:xfrm>
            <a:off x="7303713" y="258488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3DEBCF14-A4B4-9E11-E1D0-A401DC5F70C5}"/>
              </a:ext>
            </a:extLst>
          </p:cNvPr>
          <p:cNvSpPr/>
          <p:nvPr/>
        </p:nvSpPr>
        <p:spPr>
          <a:xfrm>
            <a:off x="8125025" y="374184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Ovale 45">
            <a:extLst>
              <a:ext uri="{FF2B5EF4-FFF2-40B4-BE49-F238E27FC236}">
                <a16:creationId xmlns:a16="http://schemas.microsoft.com/office/drawing/2014/main" id="{BBC24394-200B-9C7F-6944-7D9B527764F1}"/>
              </a:ext>
            </a:extLst>
          </p:cNvPr>
          <p:cNvSpPr/>
          <p:nvPr/>
        </p:nvSpPr>
        <p:spPr>
          <a:xfrm>
            <a:off x="9640459" y="35791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1BEED899-78EA-1AD9-8D35-AE6B0C933148}"/>
              </a:ext>
            </a:extLst>
          </p:cNvPr>
          <p:cNvSpPr/>
          <p:nvPr/>
        </p:nvSpPr>
        <p:spPr>
          <a:xfrm>
            <a:off x="9042142" y="4379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B9339346-2BE6-B243-0957-62DFD344C6CF}"/>
              </a:ext>
            </a:extLst>
          </p:cNvPr>
          <p:cNvSpPr/>
          <p:nvPr/>
        </p:nvSpPr>
        <p:spPr>
          <a:xfrm>
            <a:off x="9199561" y="514215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DAE7D103-9A82-425D-6F72-6E568D02A2E6}"/>
              </a:ext>
            </a:extLst>
          </p:cNvPr>
          <p:cNvSpPr/>
          <p:nvPr/>
        </p:nvSpPr>
        <p:spPr>
          <a:xfrm>
            <a:off x="10239588" y="493994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FE43DC4B-7C2C-D557-4210-668BD04DE383}"/>
              </a:ext>
            </a:extLst>
          </p:cNvPr>
          <p:cNvSpPr/>
          <p:nvPr/>
        </p:nvSpPr>
        <p:spPr>
          <a:xfrm>
            <a:off x="11146971" y="431116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A9A2CBC1-5AE3-A5FD-FBF9-C2F231DB04EA}"/>
              </a:ext>
            </a:extLst>
          </p:cNvPr>
          <p:cNvSpPr/>
          <p:nvPr/>
        </p:nvSpPr>
        <p:spPr>
          <a:xfrm>
            <a:off x="7238811" y="2152500"/>
            <a:ext cx="493295" cy="493295"/>
          </a:xfrm>
          <a:prstGeom prst="ellipse">
            <a:avLst/>
          </a:prstGeom>
          <a:gradFill flip="none" rotWithShape="1">
            <a:gsLst>
              <a:gs pos="0">
                <a:srgbClr val="E9B18E">
                  <a:alpha val="37000"/>
                </a:srgbClr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Ovale 54">
            <a:extLst>
              <a:ext uri="{FF2B5EF4-FFF2-40B4-BE49-F238E27FC236}">
                <a16:creationId xmlns:a16="http://schemas.microsoft.com/office/drawing/2014/main" id="{910BBE86-6161-F2D5-19D5-A961CF57A85C}"/>
              </a:ext>
            </a:extLst>
          </p:cNvPr>
          <p:cNvSpPr/>
          <p:nvPr/>
        </p:nvSpPr>
        <p:spPr>
          <a:xfrm>
            <a:off x="9140627" y="4727581"/>
            <a:ext cx="493295" cy="493295"/>
          </a:xfrm>
          <a:prstGeom prst="ellipse">
            <a:avLst/>
          </a:prstGeom>
          <a:solidFill>
            <a:srgbClr val="C98254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E7BFFB05-6BE8-66DE-DD6F-608854C8A590}"/>
              </a:ext>
            </a:extLst>
          </p:cNvPr>
          <p:cNvSpPr/>
          <p:nvPr/>
        </p:nvSpPr>
        <p:spPr>
          <a:xfrm>
            <a:off x="8055122" y="3324627"/>
            <a:ext cx="493295" cy="493295"/>
          </a:xfrm>
          <a:prstGeom prst="ellipse">
            <a:avLst/>
          </a:prstGeom>
          <a:solidFill>
            <a:srgbClr val="E5A67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D9C0AB8C-339F-DDAC-33DF-6E8118BBCEFD}"/>
              </a:ext>
            </a:extLst>
          </p:cNvPr>
          <p:cNvSpPr/>
          <p:nvPr/>
        </p:nvSpPr>
        <p:spPr>
          <a:xfrm>
            <a:off x="8977240" y="3958243"/>
            <a:ext cx="493295" cy="493295"/>
          </a:xfrm>
          <a:prstGeom prst="ellipse">
            <a:avLst/>
          </a:prstGeom>
          <a:solidFill>
            <a:srgbClr val="DF905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e 61">
            <a:extLst>
              <a:ext uri="{FF2B5EF4-FFF2-40B4-BE49-F238E27FC236}">
                <a16:creationId xmlns:a16="http://schemas.microsoft.com/office/drawing/2014/main" id="{5E058530-F8CC-6A10-21FC-0DEBC641CC75}"/>
              </a:ext>
            </a:extLst>
          </p:cNvPr>
          <p:cNvSpPr/>
          <p:nvPr/>
        </p:nvSpPr>
        <p:spPr>
          <a:xfrm>
            <a:off x="9575557" y="3145327"/>
            <a:ext cx="493295" cy="493295"/>
          </a:xfrm>
          <a:prstGeom prst="ellipse">
            <a:avLst/>
          </a:prstGeom>
          <a:solidFill>
            <a:srgbClr val="E29B6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F33BF080-E592-85AA-B676-A1539C86C970}"/>
              </a:ext>
            </a:extLst>
          </p:cNvPr>
          <p:cNvSpPr/>
          <p:nvPr/>
        </p:nvSpPr>
        <p:spPr>
          <a:xfrm>
            <a:off x="11081290" y="3655021"/>
            <a:ext cx="754868" cy="754868"/>
          </a:xfrm>
          <a:prstGeom prst="ellipse">
            <a:avLst/>
          </a:prstGeom>
          <a:solidFill>
            <a:srgbClr val="9C6541">
              <a:alpha val="37000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59C730B0-B376-49C2-C140-6D5E275E260A}"/>
              </a:ext>
            </a:extLst>
          </p:cNvPr>
          <p:cNvSpPr/>
          <p:nvPr/>
        </p:nvSpPr>
        <p:spPr>
          <a:xfrm>
            <a:off x="10174686" y="4524969"/>
            <a:ext cx="493295" cy="493295"/>
          </a:xfrm>
          <a:prstGeom prst="ellipse">
            <a:avLst/>
          </a:prstGeom>
          <a:solidFill>
            <a:srgbClr val="B2734A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113512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890AB-29B3-2DA2-A398-018AD91EE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B41D8E5A-4A60-8E5A-9BD5-451E4A1C55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5F31A8C-7DC0-3FFA-341D-E8BA811C168C}"/>
              </a:ext>
            </a:extLst>
          </p:cNvPr>
          <p:cNvGrpSpPr/>
          <p:nvPr/>
        </p:nvGrpSpPr>
        <p:grpSpPr>
          <a:xfrm>
            <a:off x="5968410" y="-144515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0088E1DD-1FD3-F22B-2AD5-868F0DCF8ABF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F0F387B8-DA23-882F-C578-AE6B9C7AA626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67688927-F4C6-86B9-8CB5-F621EC97AA7F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68054D30-4B14-CE8B-8783-27E846F14860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5D6E428E-584D-61CA-6E87-167EB30D2AC9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016397E8-E0E2-D07F-B4EB-5285B7C9AAD7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1FCE286B-8B96-3607-51C8-562C8F3579AD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F42AE5A1-29E5-3635-1606-727084B7DF2D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CC88572C-95B3-BFAE-CA64-CB470F70FA21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012D882F-8F12-4AB1-B9F5-D8BA45250D71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DA166BDE-77A8-F24E-7EA8-A1BC331545B2}"/>
              </a:ext>
            </a:extLst>
          </p:cNvPr>
          <p:cNvSpPr/>
          <p:nvPr/>
        </p:nvSpPr>
        <p:spPr>
          <a:xfrm>
            <a:off x="2490217" y="11921"/>
            <a:ext cx="6096000" cy="6858000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B4D3052-1248-3776-E91C-CD1EB3BC8866}"/>
              </a:ext>
            </a:extLst>
          </p:cNvPr>
          <p:cNvSpPr txBox="1"/>
          <p:nvPr/>
        </p:nvSpPr>
        <p:spPr>
          <a:xfrm>
            <a:off x="264617" y="297437"/>
            <a:ext cx="5794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Radiomics-Based CAD System </a:t>
            </a:r>
            <a:r>
              <a:rPr lang="it-IT" sz="24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for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CT Colonography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Lesion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Classification</a:t>
            </a:r>
            <a:endParaRPr lang="it-IT" sz="36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CCA83412-7976-96A9-95F1-0AB1F494D992}"/>
              </a:ext>
            </a:extLst>
          </p:cNvPr>
          <p:cNvSpPr/>
          <p:nvPr/>
        </p:nvSpPr>
        <p:spPr>
          <a:xfrm>
            <a:off x="499872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87004EE5-7850-B450-8B65-0E3FB9A80CFE}"/>
              </a:ext>
            </a:extLst>
          </p:cNvPr>
          <p:cNvSpPr/>
          <p:nvPr/>
        </p:nvSpPr>
        <p:spPr>
          <a:xfrm>
            <a:off x="492282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67472BE3-5EB5-099E-5FCB-D440ABB735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246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45ED6E6E-DF53-E1DC-C7A9-A25EC7CF21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4229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4716C69E-2706-21A4-EF17-8B1ACEB2C852}"/>
              </a:ext>
            </a:extLst>
          </p:cNvPr>
          <p:cNvSpPr txBox="1"/>
          <p:nvPr/>
        </p:nvSpPr>
        <p:spPr>
          <a:xfrm>
            <a:off x="1136290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36193A42-42F8-82BE-9CA5-5EAAB13A4D82}"/>
              </a:ext>
            </a:extLst>
          </p:cNvPr>
          <p:cNvSpPr txBox="1"/>
          <p:nvPr/>
        </p:nvSpPr>
        <p:spPr>
          <a:xfrm>
            <a:off x="1289492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CE7C71C7-B547-65EF-1C6A-121139D6E888}"/>
              </a:ext>
            </a:extLst>
          </p:cNvPr>
          <p:cNvSpPr/>
          <p:nvPr/>
        </p:nvSpPr>
        <p:spPr>
          <a:xfrm>
            <a:off x="-2197100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A0BC8C16-411D-C635-27BE-1478D94D1FED}"/>
              </a:ext>
            </a:extLst>
          </p:cNvPr>
          <p:cNvSpPr/>
          <p:nvPr/>
        </p:nvSpPr>
        <p:spPr>
          <a:xfrm>
            <a:off x="-7833951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E5BDDC19-0C6C-A987-4B6C-B1C4B69AAF91}"/>
              </a:ext>
            </a:extLst>
          </p:cNvPr>
          <p:cNvSpPr/>
          <p:nvPr/>
        </p:nvSpPr>
        <p:spPr>
          <a:xfrm>
            <a:off x="-7824881" y="59607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7B6830AF-00A4-8668-0226-3B3FEF272AD3}"/>
              </a:ext>
            </a:extLst>
          </p:cNvPr>
          <p:cNvSpPr/>
          <p:nvPr/>
        </p:nvSpPr>
        <p:spPr>
          <a:xfrm>
            <a:off x="-7838919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Elemento grafico 16" descr="Stetoscopio con riempimento a tinta unita">
            <a:extLst>
              <a:ext uri="{FF2B5EF4-FFF2-40B4-BE49-F238E27FC236}">
                <a16:creationId xmlns:a16="http://schemas.microsoft.com/office/drawing/2014/main" id="{B8036EF1-4D87-562D-9319-E01B2B5D42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7793779" y="5993702"/>
            <a:ext cx="501669" cy="501669"/>
          </a:xfrm>
          <a:prstGeom prst="rect">
            <a:avLst/>
          </a:prstGeom>
        </p:spPr>
      </p:pic>
      <p:pic>
        <p:nvPicPr>
          <p:cNvPr id="18" name="Elemento grafico 17" descr="Braccio muscoloso con riempimento a tinta unita">
            <a:extLst>
              <a:ext uri="{FF2B5EF4-FFF2-40B4-BE49-F238E27FC236}">
                <a16:creationId xmlns:a16="http://schemas.microsoft.com/office/drawing/2014/main" id="{B4B69BFE-21D6-9906-80DA-F875919FD1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782871" y="5272750"/>
            <a:ext cx="511584" cy="511584"/>
          </a:xfrm>
          <a:prstGeom prst="rect">
            <a:avLst/>
          </a:prstGeom>
        </p:spPr>
      </p:pic>
      <p:pic>
        <p:nvPicPr>
          <p:cNvPr id="22" name="Elemento grafico 21" descr="Badge Segno di spunta con riempimento a tinta unita">
            <a:extLst>
              <a:ext uri="{FF2B5EF4-FFF2-40B4-BE49-F238E27FC236}">
                <a16:creationId xmlns:a16="http://schemas.microsoft.com/office/drawing/2014/main" id="{35F1341C-05A0-6BA4-E3C1-3A6B684EF37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783312" y="4564565"/>
            <a:ext cx="539730" cy="539730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D293FFA6-97C1-2A20-5FE4-D7DCDF883A8D}"/>
              </a:ext>
            </a:extLst>
          </p:cNvPr>
          <p:cNvSpPr txBox="1"/>
          <p:nvPr/>
        </p:nvSpPr>
        <p:spPr>
          <a:xfrm>
            <a:off x="-7035261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9C907F0C-09D0-CB15-2D90-87E3F30B277A}"/>
              </a:ext>
            </a:extLst>
          </p:cNvPr>
          <p:cNvSpPr txBox="1"/>
          <p:nvPr/>
        </p:nvSpPr>
        <p:spPr>
          <a:xfrm>
            <a:off x="-7051011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4E2298D3-7EBB-FDA0-C0A8-F17C55AE52D6}"/>
              </a:ext>
            </a:extLst>
          </p:cNvPr>
          <p:cNvSpPr txBox="1"/>
          <p:nvPr/>
        </p:nvSpPr>
        <p:spPr>
          <a:xfrm>
            <a:off x="-7115083" y="59721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cxnSp>
        <p:nvCxnSpPr>
          <p:cNvPr id="52" name="Connettore dritto 51">
            <a:extLst>
              <a:ext uri="{FF2B5EF4-FFF2-40B4-BE49-F238E27FC236}">
                <a16:creationId xmlns:a16="http://schemas.microsoft.com/office/drawing/2014/main" id="{0476FB50-0FAD-C436-F739-25A56EB825A0}"/>
              </a:ext>
            </a:extLst>
          </p:cNvPr>
          <p:cNvCxnSpPr/>
          <p:nvPr/>
        </p:nvCxnSpPr>
        <p:spPr>
          <a:xfrm>
            <a:off x="385011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30BBD3DE-6092-39F3-9BE0-397BD2D43A70}"/>
              </a:ext>
            </a:extLst>
          </p:cNvPr>
          <p:cNvSpPr txBox="1"/>
          <p:nvPr/>
        </p:nvSpPr>
        <p:spPr>
          <a:xfrm>
            <a:off x="9677837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A4950020-2415-20DC-00B5-E83BDCB1D87C}"/>
              </a:ext>
            </a:extLst>
          </p:cNvPr>
          <p:cNvSpPr/>
          <p:nvPr/>
        </p:nvSpPr>
        <p:spPr>
          <a:xfrm>
            <a:off x="6966915" y="376390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Ovale 23">
            <a:extLst>
              <a:ext uri="{FF2B5EF4-FFF2-40B4-BE49-F238E27FC236}">
                <a16:creationId xmlns:a16="http://schemas.microsoft.com/office/drawing/2014/main" id="{B9B9640F-C481-9938-ECB8-8D30F1E52DB4}"/>
              </a:ext>
            </a:extLst>
          </p:cNvPr>
          <p:cNvSpPr/>
          <p:nvPr/>
        </p:nvSpPr>
        <p:spPr>
          <a:xfrm>
            <a:off x="6905529" y="3332519"/>
            <a:ext cx="493295" cy="493295"/>
          </a:xfrm>
          <a:prstGeom prst="ellipse">
            <a:avLst/>
          </a:prstGeom>
          <a:solidFill>
            <a:srgbClr val="E9B18E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Ovale 24">
            <a:extLst>
              <a:ext uri="{FF2B5EF4-FFF2-40B4-BE49-F238E27FC236}">
                <a16:creationId xmlns:a16="http://schemas.microsoft.com/office/drawing/2014/main" id="{282E287D-DB43-659A-74EB-4EEC1B429E69}"/>
              </a:ext>
            </a:extLst>
          </p:cNvPr>
          <p:cNvSpPr/>
          <p:nvPr/>
        </p:nvSpPr>
        <p:spPr>
          <a:xfrm>
            <a:off x="7303713" y="258488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Ovale 43">
            <a:extLst>
              <a:ext uri="{FF2B5EF4-FFF2-40B4-BE49-F238E27FC236}">
                <a16:creationId xmlns:a16="http://schemas.microsoft.com/office/drawing/2014/main" id="{46C39855-8E3D-8AF1-5B0C-1CE706C66055}"/>
              </a:ext>
            </a:extLst>
          </p:cNvPr>
          <p:cNvSpPr/>
          <p:nvPr/>
        </p:nvSpPr>
        <p:spPr>
          <a:xfrm>
            <a:off x="8125025" y="374184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C36635D9-DC69-1A8C-5CBE-D7D6C86BE1D1}"/>
              </a:ext>
            </a:extLst>
          </p:cNvPr>
          <p:cNvSpPr/>
          <p:nvPr/>
        </p:nvSpPr>
        <p:spPr>
          <a:xfrm>
            <a:off x="9640459" y="35791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59D71C42-7C65-6F93-9DAC-BA517A66DB86}"/>
              </a:ext>
            </a:extLst>
          </p:cNvPr>
          <p:cNvSpPr/>
          <p:nvPr/>
        </p:nvSpPr>
        <p:spPr>
          <a:xfrm>
            <a:off x="9042142" y="4379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70FC299B-9CEF-5F25-AF1C-256FC6C4B0B1}"/>
              </a:ext>
            </a:extLst>
          </p:cNvPr>
          <p:cNvSpPr/>
          <p:nvPr/>
        </p:nvSpPr>
        <p:spPr>
          <a:xfrm>
            <a:off x="9199561" y="514215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6C9F7056-391C-C20C-993C-15A1FFE7626A}"/>
              </a:ext>
            </a:extLst>
          </p:cNvPr>
          <p:cNvSpPr/>
          <p:nvPr/>
        </p:nvSpPr>
        <p:spPr>
          <a:xfrm>
            <a:off x="10239588" y="493994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3" name="Ovale 52">
            <a:extLst>
              <a:ext uri="{FF2B5EF4-FFF2-40B4-BE49-F238E27FC236}">
                <a16:creationId xmlns:a16="http://schemas.microsoft.com/office/drawing/2014/main" id="{40801494-0BC6-BD69-CBDA-3DBEE350D515}"/>
              </a:ext>
            </a:extLst>
          </p:cNvPr>
          <p:cNvSpPr/>
          <p:nvPr/>
        </p:nvSpPr>
        <p:spPr>
          <a:xfrm>
            <a:off x="11146971" y="431116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D42FB155-7CDF-5ABC-14C0-F2452133356B}"/>
              </a:ext>
            </a:extLst>
          </p:cNvPr>
          <p:cNvSpPr/>
          <p:nvPr/>
        </p:nvSpPr>
        <p:spPr>
          <a:xfrm>
            <a:off x="7238811" y="2152500"/>
            <a:ext cx="493295" cy="493295"/>
          </a:xfrm>
          <a:prstGeom prst="ellipse">
            <a:avLst/>
          </a:prstGeom>
          <a:gradFill flip="none" rotWithShape="1">
            <a:gsLst>
              <a:gs pos="0">
                <a:srgbClr val="E9B18E">
                  <a:alpha val="37000"/>
                </a:srgbClr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Ovale 55">
            <a:extLst>
              <a:ext uri="{FF2B5EF4-FFF2-40B4-BE49-F238E27FC236}">
                <a16:creationId xmlns:a16="http://schemas.microsoft.com/office/drawing/2014/main" id="{953AE729-12FB-427B-7713-94E14AA678D0}"/>
              </a:ext>
            </a:extLst>
          </p:cNvPr>
          <p:cNvSpPr/>
          <p:nvPr/>
        </p:nvSpPr>
        <p:spPr>
          <a:xfrm>
            <a:off x="9140627" y="4727581"/>
            <a:ext cx="493295" cy="493295"/>
          </a:xfrm>
          <a:prstGeom prst="ellipse">
            <a:avLst/>
          </a:prstGeom>
          <a:solidFill>
            <a:srgbClr val="C98254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DCE525AA-C966-F518-5CA1-EA45FD27ADCC}"/>
              </a:ext>
            </a:extLst>
          </p:cNvPr>
          <p:cNvSpPr/>
          <p:nvPr/>
        </p:nvSpPr>
        <p:spPr>
          <a:xfrm>
            <a:off x="8055122" y="3324627"/>
            <a:ext cx="493295" cy="493295"/>
          </a:xfrm>
          <a:prstGeom prst="ellipse">
            <a:avLst/>
          </a:prstGeom>
          <a:solidFill>
            <a:srgbClr val="E5A67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ACA67C4A-4BA5-7D78-4823-CA5062D40540}"/>
              </a:ext>
            </a:extLst>
          </p:cNvPr>
          <p:cNvSpPr/>
          <p:nvPr/>
        </p:nvSpPr>
        <p:spPr>
          <a:xfrm>
            <a:off x="8977240" y="3958243"/>
            <a:ext cx="493295" cy="493295"/>
          </a:xfrm>
          <a:prstGeom prst="ellipse">
            <a:avLst/>
          </a:prstGeom>
          <a:solidFill>
            <a:srgbClr val="DF905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e 61">
            <a:extLst>
              <a:ext uri="{FF2B5EF4-FFF2-40B4-BE49-F238E27FC236}">
                <a16:creationId xmlns:a16="http://schemas.microsoft.com/office/drawing/2014/main" id="{B3AA4072-FC89-607A-029E-9F7483F4E2A3}"/>
              </a:ext>
            </a:extLst>
          </p:cNvPr>
          <p:cNvSpPr/>
          <p:nvPr/>
        </p:nvSpPr>
        <p:spPr>
          <a:xfrm>
            <a:off x="9575557" y="3145327"/>
            <a:ext cx="493295" cy="493295"/>
          </a:xfrm>
          <a:prstGeom prst="ellipse">
            <a:avLst/>
          </a:prstGeom>
          <a:solidFill>
            <a:srgbClr val="E29B6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DA4D7487-1CEA-2D10-48C7-A278D0BC2167}"/>
              </a:ext>
            </a:extLst>
          </p:cNvPr>
          <p:cNvSpPr/>
          <p:nvPr/>
        </p:nvSpPr>
        <p:spPr>
          <a:xfrm>
            <a:off x="11081290" y="3655021"/>
            <a:ext cx="754868" cy="754868"/>
          </a:xfrm>
          <a:prstGeom prst="ellipse">
            <a:avLst/>
          </a:prstGeom>
          <a:solidFill>
            <a:srgbClr val="9C6541">
              <a:alpha val="37000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4752F9B1-A975-4F71-9825-C1D1F00CBA2B}"/>
              </a:ext>
            </a:extLst>
          </p:cNvPr>
          <p:cNvSpPr/>
          <p:nvPr/>
        </p:nvSpPr>
        <p:spPr>
          <a:xfrm>
            <a:off x="10174686" y="4524969"/>
            <a:ext cx="493295" cy="493295"/>
          </a:xfrm>
          <a:prstGeom prst="ellipse">
            <a:avLst/>
          </a:prstGeom>
          <a:solidFill>
            <a:srgbClr val="B2734A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4530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F95A2-009F-A318-B6EB-E53B4EB1A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A6E87EE7-508D-7C02-9AAF-DEF27E5F9F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CB3A3BC-B437-36A1-112E-DC2DA9B66F57}"/>
              </a:ext>
            </a:extLst>
          </p:cNvPr>
          <p:cNvGrpSpPr/>
          <p:nvPr/>
        </p:nvGrpSpPr>
        <p:grpSpPr>
          <a:xfrm>
            <a:off x="5968410" y="-144515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4C844543-E6DF-872F-0A23-51E4F06AAAB0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A282C94F-C1C0-D94E-EE1D-E3B5F769D485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51FC8C4C-5BF3-864C-BF44-99F872781C3C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33A002E9-421C-763B-DB3A-6B40A4D1DD2F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A80F14EE-8A30-EA6C-5A6A-8B44DCB2846C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86193207-36AB-645C-094A-5293674C0C38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9D666D6B-84B2-B3A8-11C0-91E493AF35B0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2D00BC85-A017-BC1A-8A71-F426D51DB164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2F33316D-D0C2-4DA0-9334-C3D10C79C7C7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47768F8C-4F6E-97D3-CABE-D7464AAA3AEA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FF400299-8488-C9AB-C12D-311D41B761DA}"/>
              </a:ext>
            </a:extLst>
          </p:cNvPr>
          <p:cNvSpPr/>
          <p:nvPr/>
        </p:nvSpPr>
        <p:spPr>
          <a:xfrm>
            <a:off x="2490217" y="11921"/>
            <a:ext cx="6096000" cy="6858000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2E2849B-0F29-28BA-F6E4-0B74F5C5E1BE}"/>
              </a:ext>
            </a:extLst>
          </p:cNvPr>
          <p:cNvSpPr txBox="1"/>
          <p:nvPr/>
        </p:nvSpPr>
        <p:spPr>
          <a:xfrm>
            <a:off x="264617" y="297437"/>
            <a:ext cx="5794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Radiomics-Based CAD System </a:t>
            </a:r>
            <a:r>
              <a:rPr lang="it-IT" sz="24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for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CT Colonography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Lesion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Classification</a:t>
            </a:r>
            <a:endParaRPr lang="it-IT" sz="36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30AA21B1-8AC1-5C2E-28FC-A2CBDF69BFE3}"/>
              </a:ext>
            </a:extLst>
          </p:cNvPr>
          <p:cNvSpPr/>
          <p:nvPr/>
        </p:nvSpPr>
        <p:spPr>
          <a:xfrm>
            <a:off x="499872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E794FE50-FADC-13C5-346E-D13B12FB377D}"/>
              </a:ext>
            </a:extLst>
          </p:cNvPr>
          <p:cNvSpPr/>
          <p:nvPr/>
        </p:nvSpPr>
        <p:spPr>
          <a:xfrm>
            <a:off x="497249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4F019C6B-5D6A-3739-F89A-C886740965AC}"/>
              </a:ext>
            </a:extLst>
          </p:cNvPr>
          <p:cNvSpPr/>
          <p:nvPr/>
        </p:nvSpPr>
        <p:spPr>
          <a:xfrm>
            <a:off x="492282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ABF2FB35-E450-3850-4371-9CE296FA8E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88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0DA8EC41-5D8B-BB66-BE35-F96F6AF54A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246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063B795E-E4B2-6843-7418-12E76B2B5C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4229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8C8B8AE-C7B9-5C33-8074-EBECCB8B596D}"/>
              </a:ext>
            </a:extLst>
          </p:cNvPr>
          <p:cNvSpPr txBox="1"/>
          <p:nvPr/>
        </p:nvSpPr>
        <p:spPr>
          <a:xfrm>
            <a:off x="1136290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D75C7E43-BE78-8745-26C8-951275A0BAC7}"/>
              </a:ext>
            </a:extLst>
          </p:cNvPr>
          <p:cNvSpPr txBox="1"/>
          <p:nvPr/>
        </p:nvSpPr>
        <p:spPr>
          <a:xfrm>
            <a:off x="1289492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9BB1C63-9F1F-D61F-7448-115AE2D661E1}"/>
              </a:ext>
            </a:extLst>
          </p:cNvPr>
          <p:cNvSpPr txBox="1"/>
          <p:nvPr/>
        </p:nvSpPr>
        <p:spPr>
          <a:xfrm>
            <a:off x="1295939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6366FB03-BDD7-498F-CABA-A09AFECB1A1B}"/>
              </a:ext>
            </a:extLst>
          </p:cNvPr>
          <p:cNvSpPr/>
          <p:nvPr/>
        </p:nvSpPr>
        <p:spPr>
          <a:xfrm>
            <a:off x="-2197100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02B348DC-35B4-8B1C-E6D8-F7CC239F3380}"/>
              </a:ext>
            </a:extLst>
          </p:cNvPr>
          <p:cNvSpPr/>
          <p:nvPr/>
        </p:nvSpPr>
        <p:spPr>
          <a:xfrm>
            <a:off x="-7824881" y="59607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3B00DFBB-6A1C-2B77-361D-1FD116DB0481}"/>
              </a:ext>
            </a:extLst>
          </p:cNvPr>
          <p:cNvSpPr/>
          <p:nvPr/>
        </p:nvSpPr>
        <p:spPr>
          <a:xfrm>
            <a:off x="-7838919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Elemento grafico 15" descr="Stetoscopio con riempimento a tinta unita">
            <a:extLst>
              <a:ext uri="{FF2B5EF4-FFF2-40B4-BE49-F238E27FC236}">
                <a16:creationId xmlns:a16="http://schemas.microsoft.com/office/drawing/2014/main" id="{B080A7FB-E3C0-2CE1-32EB-E00114AF347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7793779" y="5993702"/>
            <a:ext cx="501669" cy="501669"/>
          </a:xfrm>
          <a:prstGeom prst="rect">
            <a:avLst/>
          </a:prstGeom>
        </p:spPr>
      </p:pic>
      <p:pic>
        <p:nvPicPr>
          <p:cNvPr id="17" name="Elemento grafico 16" descr="Braccio muscoloso con riempimento a tinta unita">
            <a:extLst>
              <a:ext uri="{FF2B5EF4-FFF2-40B4-BE49-F238E27FC236}">
                <a16:creationId xmlns:a16="http://schemas.microsoft.com/office/drawing/2014/main" id="{EAAC9A1F-D84D-3B74-543D-C8A322E2C4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782871" y="5272750"/>
            <a:ext cx="511584" cy="511584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64CB5A1-D1E1-5A10-D26C-3BA409CB1D71}"/>
              </a:ext>
            </a:extLst>
          </p:cNvPr>
          <p:cNvSpPr txBox="1"/>
          <p:nvPr/>
        </p:nvSpPr>
        <p:spPr>
          <a:xfrm>
            <a:off x="-7051011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4FCA845-901A-1954-7D93-935DC0E8019C}"/>
              </a:ext>
            </a:extLst>
          </p:cNvPr>
          <p:cNvSpPr txBox="1"/>
          <p:nvPr/>
        </p:nvSpPr>
        <p:spPr>
          <a:xfrm>
            <a:off x="-7115083" y="59721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cxnSp>
        <p:nvCxnSpPr>
          <p:cNvPr id="35" name="Connettore dritto 34">
            <a:extLst>
              <a:ext uri="{FF2B5EF4-FFF2-40B4-BE49-F238E27FC236}">
                <a16:creationId xmlns:a16="http://schemas.microsoft.com/office/drawing/2014/main" id="{AA44B325-C596-C62E-F54B-35A9B0EFC739}"/>
              </a:ext>
            </a:extLst>
          </p:cNvPr>
          <p:cNvCxnSpPr/>
          <p:nvPr/>
        </p:nvCxnSpPr>
        <p:spPr>
          <a:xfrm>
            <a:off x="385011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59D7BFB-2B23-F76C-6222-F3E50BB1D46E}"/>
              </a:ext>
            </a:extLst>
          </p:cNvPr>
          <p:cNvSpPr txBox="1"/>
          <p:nvPr/>
        </p:nvSpPr>
        <p:spPr>
          <a:xfrm>
            <a:off x="9677837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sp>
        <p:nvSpPr>
          <p:cNvPr id="18" name="Ovale 17">
            <a:extLst>
              <a:ext uri="{FF2B5EF4-FFF2-40B4-BE49-F238E27FC236}">
                <a16:creationId xmlns:a16="http://schemas.microsoft.com/office/drawing/2014/main" id="{38799577-C9B0-E52A-A763-7E872453597A}"/>
              </a:ext>
            </a:extLst>
          </p:cNvPr>
          <p:cNvSpPr/>
          <p:nvPr/>
        </p:nvSpPr>
        <p:spPr>
          <a:xfrm>
            <a:off x="6966915" y="376390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4B67C13C-55A8-C65C-B8DD-82D636289881}"/>
              </a:ext>
            </a:extLst>
          </p:cNvPr>
          <p:cNvSpPr/>
          <p:nvPr/>
        </p:nvSpPr>
        <p:spPr>
          <a:xfrm>
            <a:off x="6905529" y="3332519"/>
            <a:ext cx="493295" cy="493295"/>
          </a:xfrm>
          <a:prstGeom prst="ellipse">
            <a:avLst/>
          </a:prstGeom>
          <a:solidFill>
            <a:srgbClr val="E9B18E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28DCD94F-AAEE-8EC0-98A9-555233A8419D}"/>
              </a:ext>
            </a:extLst>
          </p:cNvPr>
          <p:cNvSpPr/>
          <p:nvPr/>
        </p:nvSpPr>
        <p:spPr>
          <a:xfrm>
            <a:off x="7303713" y="258488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E4FF44CD-993F-7C11-1EF0-4793E452AE45}"/>
              </a:ext>
            </a:extLst>
          </p:cNvPr>
          <p:cNvSpPr/>
          <p:nvPr/>
        </p:nvSpPr>
        <p:spPr>
          <a:xfrm>
            <a:off x="8125025" y="374184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Ovale 46">
            <a:extLst>
              <a:ext uri="{FF2B5EF4-FFF2-40B4-BE49-F238E27FC236}">
                <a16:creationId xmlns:a16="http://schemas.microsoft.com/office/drawing/2014/main" id="{5D221C9E-EDBD-9185-3C8D-21F57169DEBD}"/>
              </a:ext>
            </a:extLst>
          </p:cNvPr>
          <p:cNvSpPr/>
          <p:nvPr/>
        </p:nvSpPr>
        <p:spPr>
          <a:xfrm>
            <a:off x="9640459" y="35791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Ovale 47">
            <a:extLst>
              <a:ext uri="{FF2B5EF4-FFF2-40B4-BE49-F238E27FC236}">
                <a16:creationId xmlns:a16="http://schemas.microsoft.com/office/drawing/2014/main" id="{CB35D0BB-C850-7E82-40B9-B45250981A4F}"/>
              </a:ext>
            </a:extLst>
          </p:cNvPr>
          <p:cNvSpPr/>
          <p:nvPr/>
        </p:nvSpPr>
        <p:spPr>
          <a:xfrm>
            <a:off x="9042142" y="4379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9" name="Ovale 48">
            <a:extLst>
              <a:ext uri="{FF2B5EF4-FFF2-40B4-BE49-F238E27FC236}">
                <a16:creationId xmlns:a16="http://schemas.microsoft.com/office/drawing/2014/main" id="{E6752D7B-3F9E-55EF-6A01-3667AF112B61}"/>
              </a:ext>
            </a:extLst>
          </p:cNvPr>
          <p:cNvSpPr/>
          <p:nvPr/>
        </p:nvSpPr>
        <p:spPr>
          <a:xfrm>
            <a:off x="9199561" y="514215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Ovale 49">
            <a:extLst>
              <a:ext uri="{FF2B5EF4-FFF2-40B4-BE49-F238E27FC236}">
                <a16:creationId xmlns:a16="http://schemas.microsoft.com/office/drawing/2014/main" id="{907EA848-E97C-023C-C580-6E0B259955E0}"/>
              </a:ext>
            </a:extLst>
          </p:cNvPr>
          <p:cNvSpPr/>
          <p:nvPr/>
        </p:nvSpPr>
        <p:spPr>
          <a:xfrm>
            <a:off x="10239588" y="493994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1" name="Ovale 50">
            <a:extLst>
              <a:ext uri="{FF2B5EF4-FFF2-40B4-BE49-F238E27FC236}">
                <a16:creationId xmlns:a16="http://schemas.microsoft.com/office/drawing/2014/main" id="{005B08A7-819F-B133-7E64-85E1E862A69F}"/>
              </a:ext>
            </a:extLst>
          </p:cNvPr>
          <p:cNvSpPr/>
          <p:nvPr/>
        </p:nvSpPr>
        <p:spPr>
          <a:xfrm>
            <a:off x="11146971" y="431116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2" name="Ovale 51">
            <a:extLst>
              <a:ext uri="{FF2B5EF4-FFF2-40B4-BE49-F238E27FC236}">
                <a16:creationId xmlns:a16="http://schemas.microsoft.com/office/drawing/2014/main" id="{93B1E16F-8E17-6CB5-3F4B-9ABBC7A71B38}"/>
              </a:ext>
            </a:extLst>
          </p:cNvPr>
          <p:cNvSpPr/>
          <p:nvPr/>
        </p:nvSpPr>
        <p:spPr>
          <a:xfrm>
            <a:off x="7238811" y="2152500"/>
            <a:ext cx="493295" cy="493295"/>
          </a:xfrm>
          <a:prstGeom prst="ellipse">
            <a:avLst/>
          </a:prstGeom>
          <a:gradFill flip="none" rotWithShape="1">
            <a:gsLst>
              <a:gs pos="0">
                <a:srgbClr val="E9B18E">
                  <a:alpha val="37000"/>
                </a:srgbClr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Ovale 53">
            <a:extLst>
              <a:ext uri="{FF2B5EF4-FFF2-40B4-BE49-F238E27FC236}">
                <a16:creationId xmlns:a16="http://schemas.microsoft.com/office/drawing/2014/main" id="{B9F92BC3-52D2-7E5B-886B-0E73FCBEE7DB}"/>
              </a:ext>
            </a:extLst>
          </p:cNvPr>
          <p:cNvSpPr/>
          <p:nvPr/>
        </p:nvSpPr>
        <p:spPr>
          <a:xfrm>
            <a:off x="9140627" y="4727581"/>
            <a:ext cx="493295" cy="493295"/>
          </a:xfrm>
          <a:prstGeom prst="ellipse">
            <a:avLst/>
          </a:prstGeom>
          <a:solidFill>
            <a:srgbClr val="C98254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Ovale 55">
            <a:extLst>
              <a:ext uri="{FF2B5EF4-FFF2-40B4-BE49-F238E27FC236}">
                <a16:creationId xmlns:a16="http://schemas.microsoft.com/office/drawing/2014/main" id="{BC96FCFD-E9F5-F0C1-2364-162F16A0D708}"/>
              </a:ext>
            </a:extLst>
          </p:cNvPr>
          <p:cNvSpPr/>
          <p:nvPr/>
        </p:nvSpPr>
        <p:spPr>
          <a:xfrm>
            <a:off x="8055122" y="3324627"/>
            <a:ext cx="493295" cy="493295"/>
          </a:xfrm>
          <a:prstGeom prst="ellipse">
            <a:avLst/>
          </a:prstGeom>
          <a:solidFill>
            <a:srgbClr val="E5A67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88C9195A-772B-4641-3483-9023402332F6}"/>
              </a:ext>
            </a:extLst>
          </p:cNvPr>
          <p:cNvSpPr/>
          <p:nvPr/>
        </p:nvSpPr>
        <p:spPr>
          <a:xfrm>
            <a:off x="8977240" y="3958243"/>
            <a:ext cx="493295" cy="493295"/>
          </a:xfrm>
          <a:prstGeom prst="ellipse">
            <a:avLst/>
          </a:prstGeom>
          <a:solidFill>
            <a:srgbClr val="DF905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Ovale 61">
            <a:extLst>
              <a:ext uri="{FF2B5EF4-FFF2-40B4-BE49-F238E27FC236}">
                <a16:creationId xmlns:a16="http://schemas.microsoft.com/office/drawing/2014/main" id="{D6985E90-65AA-D5B0-DF5E-0C414CF454AC}"/>
              </a:ext>
            </a:extLst>
          </p:cNvPr>
          <p:cNvSpPr/>
          <p:nvPr/>
        </p:nvSpPr>
        <p:spPr>
          <a:xfrm>
            <a:off x="9575557" y="3145327"/>
            <a:ext cx="493295" cy="493295"/>
          </a:xfrm>
          <a:prstGeom prst="ellipse">
            <a:avLst/>
          </a:prstGeom>
          <a:solidFill>
            <a:srgbClr val="E29B6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Ovale 62">
            <a:extLst>
              <a:ext uri="{FF2B5EF4-FFF2-40B4-BE49-F238E27FC236}">
                <a16:creationId xmlns:a16="http://schemas.microsoft.com/office/drawing/2014/main" id="{2D95E05D-E57C-7341-18CB-EF1CE92BC3D3}"/>
              </a:ext>
            </a:extLst>
          </p:cNvPr>
          <p:cNvSpPr/>
          <p:nvPr/>
        </p:nvSpPr>
        <p:spPr>
          <a:xfrm>
            <a:off x="11081290" y="3655021"/>
            <a:ext cx="754868" cy="754868"/>
          </a:xfrm>
          <a:prstGeom prst="ellipse">
            <a:avLst/>
          </a:prstGeom>
          <a:solidFill>
            <a:srgbClr val="9C6541">
              <a:alpha val="37000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5" name="Ovale 64">
            <a:extLst>
              <a:ext uri="{FF2B5EF4-FFF2-40B4-BE49-F238E27FC236}">
                <a16:creationId xmlns:a16="http://schemas.microsoft.com/office/drawing/2014/main" id="{B7448C05-0CD2-189F-9B2A-38551646E9DF}"/>
              </a:ext>
            </a:extLst>
          </p:cNvPr>
          <p:cNvSpPr/>
          <p:nvPr/>
        </p:nvSpPr>
        <p:spPr>
          <a:xfrm>
            <a:off x="10174686" y="4524969"/>
            <a:ext cx="493295" cy="493295"/>
          </a:xfrm>
          <a:prstGeom prst="ellipse">
            <a:avLst/>
          </a:prstGeom>
          <a:solidFill>
            <a:srgbClr val="B2734A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8303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9E497-12BB-5C4A-28D2-DF8801E6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BB64124D-90BB-8A0C-F298-11B1394512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72D830F8-80D0-31F7-840C-4952261B9932}"/>
              </a:ext>
            </a:extLst>
          </p:cNvPr>
          <p:cNvGrpSpPr/>
          <p:nvPr/>
        </p:nvGrpSpPr>
        <p:grpSpPr>
          <a:xfrm>
            <a:off x="5968410" y="-144515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01EE921D-D05C-9526-923A-49300A55FBCB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87534859-37A1-52A7-FE25-E33D8C3AA440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0F6D362F-314E-5E54-342D-86AE6B66607B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ADD224D2-49F0-E5C6-3C0D-0D48A3ECC3BB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BAD65E41-4C8E-D316-7FD8-F5181F897641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BFDA70D9-D2D2-E9FC-FD66-DF593BA491CF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1CB5C248-8E20-846B-32E8-8C09A4829CC3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DD92BDDB-FF24-C7EB-5939-5F7040DF62DB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B8EB002F-2B9E-80D5-C4D1-CE2B0758C402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D0F7974C-2256-4307-55C4-9DDF1A859BC0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59A8D59D-1CF5-EEFA-CE92-03467DAE4BF9}"/>
              </a:ext>
            </a:extLst>
          </p:cNvPr>
          <p:cNvSpPr/>
          <p:nvPr/>
        </p:nvSpPr>
        <p:spPr>
          <a:xfrm>
            <a:off x="2490217" y="11921"/>
            <a:ext cx="6096000" cy="6858000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296A5DC-EA33-F6C5-8B43-9D7EF9CD145E}"/>
              </a:ext>
            </a:extLst>
          </p:cNvPr>
          <p:cNvSpPr txBox="1"/>
          <p:nvPr/>
        </p:nvSpPr>
        <p:spPr>
          <a:xfrm>
            <a:off x="264617" y="297437"/>
            <a:ext cx="5794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Radiomics-Based CAD System </a:t>
            </a:r>
            <a:r>
              <a:rPr lang="it-IT" sz="24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for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CT Colonography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Lesion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Classification</a:t>
            </a:r>
            <a:endParaRPr lang="it-IT" sz="36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CD55FDB-E801-82AD-6F4F-CFB45E81695A}"/>
              </a:ext>
            </a:extLst>
          </p:cNvPr>
          <p:cNvSpPr/>
          <p:nvPr/>
        </p:nvSpPr>
        <p:spPr>
          <a:xfrm>
            <a:off x="499872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D7940572-36A5-017F-721B-1BBD5C60F648}"/>
              </a:ext>
            </a:extLst>
          </p:cNvPr>
          <p:cNvSpPr/>
          <p:nvPr/>
        </p:nvSpPr>
        <p:spPr>
          <a:xfrm>
            <a:off x="497249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860539C5-1880-3310-E83B-CFB8652F43A0}"/>
              </a:ext>
            </a:extLst>
          </p:cNvPr>
          <p:cNvSpPr/>
          <p:nvPr/>
        </p:nvSpPr>
        <p:spPr>
          <a:xfrm>
            <a:off x="492282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4D7C8209-9B1C-5C79-4FC3-AB145CB15D21}"/>
              </a:ext>
            </a:extLst>
          </p:cNvPr>
          <p:cNvSpPr/>
          <p:nvPr/>
        </p:nvSpPr>
        <p:spPr>
          <a:xfrm>
            <a:off x="49228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BAE33097-72BD-8FC6-F179-1B3130082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329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2F9C0FEF-0928-FB75-5789-DD68491C61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88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42DC8E9F-5789-F295-5EB5-960E0B76D5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246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381B1F35-67B7-0402-435C-5273DB6ECA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4229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C6122F6D-A5F8-6261-8B19-3264FC08D954}"/>
              </a:ext>
            </a:extLst>
          </p:cNvPr>
          <p:cNvSpPr txBox="1"/>
          <p:nvPr/>
        </p:nvSpPr>
        <p:spPr>
          <a:xfrm>
            <a:off x="1136290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17A08309-5FD0-B71A-201C-4A5F37005272}"/>
              </a:ext>
            </a:extLst>
          </p:cNvPr>
          <p:cNvSpPr txBox="1"/>
          <p:nvPr/>
        </p:nvSpPr>
        <p:spPr>
          <a:xfrm>
            <a:off x="1289492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772DD6CF-6219-29C2-42D6-A0B38173E096}"/>
              </a:ext>
            </a:extLst>
          </p:cNvPr>
          <p:cNvSpPr txBox="1"/>
          <p:nvPr/>
        </p:nvSpPr>
        <p:spPr>
          <a:xfrm>
            <a:off x="1295939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CD5A9699-E385-8A96-FD0E-DC3730609BEF}"/>
              </a:ext>
            </a:extLst>
          </p:cNvPr>
          <p:cNvSpPr txBox="1"/>
          <p:nvPr/>
        </p:nvSpPr>
        <p:spPr>
          <a:xfrm>
            <a:off x="1280189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845D4ED4-4C5B-0D1D-D24E-07A729A9CE6D}"/>
              </a:ext>
            </a:extLst>
          </p:cNvPr>
          <p:cNvSpPr/>
          <p:nvPr/>
        </p:nvSpPr>
        <p:spPr>
          <a:xfrm>
            <a:off x="-2197100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B7722097-5B9E-7348-5650-4792876DA924}"/>
              </a:ext>
            </a:extLst>
          </p:cNvPr>
          <p:cNvSpPr/>
          <p:nvPr/>
        </p:nvSpPr>
        <p:spPr>
          <a:xfrm>
            <a:off x="-7824881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Elemento grafico 14" descr="Stetoscopio con riempimento a tinta unita">
            <a:extLst>
              <a:ext uri="{FF2B5EF4-FFF2-40B4-BE49-F238E27FC236}">
                <a16:creationId xmlns:a16="http://schemas.microsoft.com/office/drawing/2014/main" id="{D9B73F2F-6B8B-BD24-7F89-6FE05F2794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793779" y="5981002"/>
            <a:ext cx="501669" cy="501669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5BC80A5-117A-29BA-7C8B-940E8815DDCB}"/>
              </a:ext>
            </a:extLst>
          </p:cNvPr>
          <p:cNvSpPr txBox="1"/>
          <p:nvPr/>
        </p:nvSpPr>
        <p:spPr>
          <a:xfrm>
            <a:off x="-7115083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cxnSp>
        <p:nvCxnSpPr>
          <p:cNvPr id="22" name="Connettore dritto 21">
            <a:extLst>
              <a:ext uri="{FF2B5EF4-FFF2-40B4-BE49-F238E27FC236}">
                <a16:creationId xmlns:a16="http://schemas.microsoft.com/office/drawing/2014/main" id="{C57026FB-060A-33BD-0468-60E4023AC10E}"/>
              </a:ext>
            </a:extLst>
          </p:cNvPr>
          <p:cNvCxnSpPr/>
          <p:nvPr/>
        </p:nvCxnSpPr>
        <p:spPr>
          <a:xfrm>
            <a:off x="385011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28940EB-A488-AF37-65CE-E23C3F565510}"/>
              </a:ext>
            </a:extLst>
          </p:cNvPr>
          <p:cNvSpPr txBox="1"/>
          <p:nvPr/>
        </p:nvSpPr>
        <p:spPr>
          <a:xfrm>
            <a:off x="9677837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B39389A4-8A75-1712-57B2-11EFF042D5F4}"/>
              </a:ext>
            </a:extLst>
          </p:cNvPr>
          <p:cNvSpPr/>
          <p:nvPr/>
        </p:nvSpPr>
        <p:spPr>
          <a:xfrm>
            <a:off x="6966915" y="376390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DDDC18B1-5EFE-48CE-553E-799F489E5D35}"/>
              </a:ext>
            </a:extLst>
          </p:cNvPr>
          <p:cNvSpPr/>
          <p:nvPr/>
        </p:nvSpPr>
        <p:spPr>
          <a:xfrm>
            <a:off x="6905529" y="3332519"/>
            <a:ext cx="493295" cy="493295"/>
          </a:xfrm>
          <a:prstGeom prst="ellipse">
            <a:avLst/>
          </a:prstGeom>
          <a:solidFill>
            <a:srgbClr val="E9B18E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97E1B271-8F45-619D-7DB3-8E1EB335B4DC}"/>
              </a:ext>
            </a:extLst>
          </p:cNvPr>
          <p:cNvSpPr/>
          <p:nvPr/>
        </p:nvSpPr>
        <p:spPr>
          <a:xfrm>
            <a:off x="7303713" y="258488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8ADDB7D3-6BA3-B1F6-333F-721017B8F5BE}"/>
              </a:ext>
            </a:extLst>
          </p:cNvPr>
          <p:cNvSpPr/>
          <p:nvPr/>
        </p:nvSpPr>
        <p:spPr>
          <a:xfrm>
            <a:off x="8125025" y="374184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761A4670-5074-D4E5-55A7-EFF5A5C3328E}"/>
              </a:ext>
            </a:extLst>
          </p:cNvPr>
          <p:cNvSpPr/>
          <p:nvPr/>
        </p:nvSpPr>
        <p:spPr>
          <a:xfrm>
            <a:off x="9640459" y="35791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1" name="Ovale 70">
            <a:extLst>
              <a:ext uri="{FF2B5EF4-FFF2-40B4-BE49-F238E27FC236}">
                <a16:creationId xmlns:a16="http://schemas.microsoft.com/office/drawing/2014/main" id="{F6202B4F-9D42-B6B2-34DC-17AA3A4C3C25}"/>
              </a:ext>
            </a:extLst>
          </p:cNvPr>
          <p:cNvSpPr/>
          <p:nvPr/>
        </p:nvSpPr>
        <p:spPr>
          <a:xfrm>
            <a:off x="9042142" y="4379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Ovale 71">
            <a:extLst>
              <a:ext uri="{FF2B5EF4-FFF2-40B4-BE49-F238E27FC236}">
                <a16:creationId xmlns:a16="http://schemas.microsoft.com/office/drawing/2014/main" id="{54319699-EFE3-3F55-3C84-128190242F83}"/>
              </a:ext>
            </a:extLst>
          </p:cNvPr>
          <p:cNvSpPr/>
          <p:nvPr/>
        </p:nvSpPr>
        <p:spPr>
          <a:xfrm>
            <a:off x="9199561" y="514215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1C199364-145F-EF7C-7960-1FA137993059}"/>
              </a:ext>
            </a:extLst>
          </p:cNvPr>
          <p:cNvSpPr/>
          <p:nvPr/>
        </p:nvSpPr>
        <p:spPr>
          <a:xfrm>
            <a:off x="10239588" y="493994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4" name="Ovale 73">
            <a:extLst>
              <a:ext uri="{FF2B5EF4-FFF2-40B4-BE49-F238E27FC236}">
                <a16:creationId xmlns:a16="http://schemas.microsoft.com/office/drawing/2014/main" id="{94E359FC-EBF2-A193-FCC5-1B5DB5E06C4A}"/>
              </a:ext>
            </a:extLst>
          </p:cNvPr>
          <p:cNvSpPr/>
          <p:nvPr/>
        </p:nvSpPr>
        <p:spPr>
          <a:xfrm>
            <a:off x="11146971" y="431116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5" name="Ovale 74">
            <a:extLst>
              <a:ext uri="{FF2B5EF4-FFF2-40B4-BE49-F238E27FC236}">
                <a16:creationId xmlns:a16="http://schemas.microsoft.com/office/drawing/2014/main" id="{33532A9E-FE74-7AE4-CBE2-6A1A42AEE29C}"/>
              </a:ext>
            </a:extLst>
          </p:cNvPr>
          <p:cNvSpPr/>
          <p:nvPr/>
        </p:nvSpPr>
        <p:spPr>
          <a:xfrm>
            <a:off x="7238811" y="2152500"/>
            <a:ext cx="493295" cy="493295"/>
          </a:xfrm>
          <a:prstGeom prst="ellipse">
            <a:avLst/>
          </a:prstGeom>
          <a:gradFill flip="none" rotWithShape="1">
            <a:gsLst>
              <a:gs pos="0">
                <a:srgbClr val="E9B18E">
                  <a:alpha val="37000"/>
                </a:srgbClr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28B105E1-7FC4-B069-4AAD-F5FA74D417D5}"/>
              </a:ext>
            </a:extLst>
          </p:cNvPr>
          <p:cNvSpPr/>
          <p:nvPr/>
        </p:nvSpPr>
        <p:spPr>
          <a:xfrm>
            <a:off x="9140627" y="4727581"/>
            <a:ext cx="493295" cy="493295"/>
          </a:xfrm>
          <a:prstGeom prst="ellipse">
            <a:avLst/>
          </a:prstGeom>
          <a:solidFill>
            <a:srgbClr val="C98254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C6FB2926-7B1C-F429-A68A-41FB5BFA5DCD}"/>
              </a:ext>
            </a:extLst>
          </p:cNvPr>
          <p:cNvSpPr/>
          <p:nvPr/>
        </p:nvSpPr>
        <p:spPr>
          <a:xfrm>
            <a:off x="8055122" y="3324627"/>
            <a:ext cx="493295" cy="493295"/>
          </a:xfrm>
          <a:prstGeom prst="ellipse">
            <a:avLst/>
          </a:prstGeom>
          <a:solidFill>
            <a:srgbClr val="E5A67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801A785E-5A24-80E0-8714-765F79B177E0}"/>
              </a:ext>
            </a:extLst>
          </p:cNvPr>
          <p:cNvSpPr/>
          <p:nvPr/>
        </p:nvSpPr>
        <p:spPr>
          <a:xfrm>
            <a:off x="8977240" y="3958243"/>
            <a:ext cx="493295" cy="493295"/>
          </a:xfrm>
          <a:prstGeom prst="ellipse">
            <a:avLst/>
          </a:prstGeom>
          <a:solidFill>
            <a:srgbClr val="DF905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00A94752-56F9-E349-5AF3-C3F80AFA39B3}"/>
              </a:ext>
            </a:extLst>
          </p:cNvPr>
          <p:cNvSpPr/>
          <p:nvPr/>
        </p:nvSpPr>
        <p:spPr>
          <a:xfrm>
            <a:off x="9575557" y="3145327"/>
            <a:ext cx="493295" cy="493295"/>
          </a:xfrm>
          <a:prstGeom prst="ellipse">
            <a:avLst/>
          </a:prstGeom>
          <a:solidFill>
            <a:srgbClr val="E29B6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0" name="Ovale 79">
            <a:extLst>
              <a:ext uri="{FF2B5EF4-FFF2-40B4-BE49-F238E27FC236}">
                <a16:creationId xmlns:a16="http://schemas.microsoft.com/office/drawing/2014/main" id="{8F6F811B-0339-BC20-53EC-9954D256B029}"/>
              </a:ext>
            </a:extLst>
          </p:cNvPr>
          <p:cNvSpPr/>
          <p:nvPr/>
        </p:nvSpPr>
        <p:spPr>
          <a:xfrm>
            <a:off x="11081290" y="3655021"/>
            <a:ext cx="754868" cy="754868"/>
          </a:xfrm>
          <a:prstGeom prst="ellipse">
            <a:avLst/>
          </a:prstGeom>
          <a:solidFill>
            <a:srgbClr val="9C6541">
              <a:alpha val="37000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1" name="Ovale 80">
            <a:extLst>
              <a:ext uri="{FF2B5EF4-FFF2-40B4-BE49-F238E27FC236}">
                <a16:creationId xmlns:a16="http://schemas.microsoft.com/office/drawing/2014/main" id="{48EF35D7-3555-7D2E-9AB2-0826024FB2C9}"/>
              </a:ext>
            </a:extLst>
          </p:cNvPr>
          <p:cNvSpPr/>
          <p:nvPr/>
        </p:nvSpPr>
        <p:spPr>
          <a:xfrm>
            <a:off x="10174686" y="4524969"/>
            <a:ext cx="493295" cy="493295"/>
          </a:xfrm>
          <a:prstGeom prst="ellipse">
            <a:avLst/>
          </a:prstGeom>
          <a:solidFill>
            <a:srgbClr val="B2734A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29630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78CDB-FBC2-431D-2581-1D9FBE8D3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73E7EFE5-6EF1-E00B-A86D-9DE1427C4E0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C47C83D-6765-27A7-47D6-EC817829728F}"/>
              </a:ext>
            </a:extLst>
          </p:cNvPr>
          <p:cNvGrpSpPr/>
          <p:nvPr/>
        </p:nvGrpSpPr>
        <p:grpSpPr>
          <a:xfrm>
            <a:off x="5968410" y="-144515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63CB5834-D413-41A1-4C36-793D64DA702C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4E16D44E-9A9D-FA92-1987-CDAB71AD2333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CB3AE922-DB5C-769D-93C7-327F5ACED18B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1A7C3F08-450F-E5E3-F587-FC442B5C991E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65931C93-8F21-ADB5-1124-1BAD76CF98A4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1A63872F-9C8A-3DA7-7BB2-1058BBB7CFA3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6107FB06-61C3-97EF-2CED-F9A55D06CB6E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B0926A24-4BAE-B578-7876-2EE523DAD0F5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83704605-4F0A-06A5-53A0-47A2F89A7EBC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AEA07973-823F-7DCE-E840-7C1B33AD0726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A15CA06F-4A10-B93C-2E9F-615DEBF6421C}"/>
              </a:ext>
            </a:extLst>
          </p:cNvPr>
          <p:cNvSpPr/>
          <p:nvPr/>
        </p:nvSpPr>
        <p:spPr>
          <a:xfrm>
            <a:off x="2490217" y="11921"/>
            <a:ext cx="6096000" cy="6858000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7CC92CFF-4215-EA11-9650-B9E6461D5D1B}"/>
              </a:ext>
            </a:extLst>
          </p:cNvPr>
          <p:cNvSpPr txBox="1"/>
          <p:nvPr/>
        </p:nvSpPr>
        <p:spPr>
          <a:xfrm>
            <a:off x="264617" y="297437"/>
            <a:ext cx="57940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Radiomics-Based CAD System </a:t>
            </a:r>
            <a:r>
              <a:rPr lang="it-IT" sz="24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for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CT Colonography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Lesion</a:t>
            </a:r>
            <a:r>
              <a:rPr lang="it-IT" sz="36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36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Classification</a:t>
            </a:r>
            <a:endParaRPr lang="it-IT" sz="36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64A033C7-1770-78B6-63E7-89ED56FC11BA}"/>
              </a:ext>
            </a:extLst>
          </p:cNvPr>
          <p:cNvSpPr/>
          <p:nvPr/>
        </p:nvSpPr>
        <p:spPr>
          <a:xfrm>
            <a:off x="6966915" y="376390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0A25CB5C-237B-04DF-4057-635F81C97550}"/>
              </a:ext>
            </a:extLst>
          </p:cNvPr>
          <p:cNvSpPr/>
          <p:nvPr/>
        </p:nvSpPr>
        <p:spPr>
          <a:xfrm>
            <a:off x="6905529" y="3332519"/>
            <a:ext cx="493295" cy="493295"/>
          </a:xfrm>
          <a:prstGeom prst="ellipse">
            <a:avLst/>
          </a:prstGeom>
          <a:solidFill>
            <a:srgbClr val="E9B18E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E1745F26-D1A5-D6B4-A357-6DE1D0553A2D}"/>
              </a:ext>
            </a:extLst>
          </p:cNvPr>
          <p:cNvSpPr/>
          <p:nvPr/>
        </p:nvSpPr>
        <p:spPr>
          <a:xfrm>
            <a:off x="7303713" y="258488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E908BEFF-75CC-69B8-2DB6-CB002E48EBCD}"/>
              </a:ext>
            </a:extLst>
          </p:cNvPr>
          <p:cNvSpPr/>
          <p:nvPr/>
        </p:nvSpPr>
        <p:spPr>
          <a:xfrm>
            <a:off x="8125025" y="374184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37771E5E-246B-7D83-99E2-8CF85B81444E}"/>
              </a:ext>
            </a:extLst>
          </p:cNvPr>
          <p:cNvSpPr/>
          <p:nvPr/>
        </p:nvSpPr>
        <p:spPr>
          <a:xfrm>
            <a:off x="9640459" y="35791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74ECCA25-F525-1DFD-F802-14FBED7AB41D}"/>
              </a:ext>
            </a:extLst>
          </p:cNvPr>
          <p:cNvSpPr/>
          <p:nvPr/>
        </p:nvSpPr>
        <p:spPr>
          <a:xfrm>
            <a:off x="9042142" y="4379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60469609-977B-B17F-07DA-65412EAA65FA}"/>
              </a:ext>
            </a:extLst>
          </p:cNvPr>
          <p:cNvSpPr/>
          <p:nvPr/>
        </p:nvSpPr>
        <p:spPr>
          <a:xfrm>
            <a:off x="9199561" y="514215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53E959F8-6E36-C97D-E661-CFFD6354E98C}"/>
              </a:ext>
            </a:extLst>
          </p:cNvPr>
          <p:cNvSpPr/>
          <p:nvPr/>
        </p:nvSpPr>
        <p:spPr>
          <a:xfrm>
            <a:off x="10239588" y="493994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2FF765F1-BFCA-830B-BABD-31C33EBA20FD}"/>
              </a:ext>
            </a:extLst>
          </p:cNvPr>
          <p:cNvSpPr/>
          <p:nvPr/>
        </p:nvSpPr>
        <p:spPr>
          <a:xfrm>
            <a:off x="11146971" y="431116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D73CB8B8-ED84-87DC-64EA-823B92FD76E0}"/>
              </a:ext>
            </a:extLst>
          </p:cNvPr>
          <p:cNvSpPr/>
          <p:nvPr/>
        </p:nvSpPr>
        <p:spPr>
          <a:xfrm>
            <a:off x="7238811" y="2152500"/>
            <a:ext cx="493295" cy="493295"/>
          </a:xfrm>
          <a:prstGeom prst="ellipse">
            <a:avLst/>
          </a:prstGeom>
          <a:gradFill flip="none" rotWithShape="1">
            <a:gsLst>
              <a:gs pos="0">
                <a:srgbClr val="E9B18E">
                  <a:alpha val="37000"/>
                </a:srgbClr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910C26B-43E5-8BA2-4305-E8E2A19F1918}"/>
              </a:ext>
            </a:extLst>
          </p:cNvPr>
          <p:cNvSpPr/>
          <p:nvPr/>
        </p:nvSpPr>
        <p:spPr>
          <a:xfrm>
            <a:off x="9140627" y="4727581"/>
            <a:ext cx="493295" cy="493295"/>
          </a:xfrm>
          <a:prstGeom prst="ellipse">
            <a:avLst/>
          </a:prstGeom>
          <a:solidFill>
            <a:srgbClr val="C98254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6B22DEBE-6446-E65F-4853-C305EF488CE6}"/>
              </a:ext>
            </a:extLst>
          </p:cNvPr>
          <p:cNvSpPr/>
          <p:nvPr/>
        </p:nvSpPr>
        <p:spPr>
          <a:xfrm>
            <a:off x="8055122" y="3324627"/>
            <a:ext cx="493295" cy="493295"/>
          </a:xfrm>
          <a:prstGeom prst="ellipse">
            <a:avLst/>
          </a:prstGeom>
          <a:solidFill>
            <a:srgbClr val="E5A67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99157E14-6836-F1D5-4453-1C85447196B0}"/>
              </a:ext>
            </a:extLst>
          </p:cNvPr>
          <p:cNvSpPr/>
          <p:nvPr/>
        </p:nvSpPr>
        <p:spPr>
          <a:xfrm>
            <a:off x="8977240" y="3958243"/>
            <a:ext cx="493295" cy="493295"/>
          </a:xfrm>
          <a:prstGeom prst="ellipse">
            <a:avLst/>
          </a:prstGeom>
          <a:solidFill>
            <a:srgbClr val="DF905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02A296F2-2EA4-C4C5-67CA-028F6B950B83}"/>
              </a:ext>
            </a:extLst>
          </p:cNvPr>
          <p:cNvSpPr/>
          <p:nvPr/>
        </p:nvSpPr>
        <p:spPr>
          <a:xfrm>
            <a:off x="9575557" y="3145327"/>
            <a:ext cx="493295" cy="493295"/>
          </a:xfrm>
          <a:prstGeom prst="ellipse">
            <a:avLst/>
          </a:prstGeom>
          <a:solidFill>
            <a:srgbClr val="E29B6D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AE2F1EF8-A355-92BF-5AE3-ADB79B91CEC7}"/>
              </a:ext>
            </a:extLst>
          </p:cNvPr>
          <p:cNvSpPr/>
          <p:nvPr/>
        </p:nvSpPr>
        <p:spPr>
          <a:xfrm>
            <a:off x="11081290" y="3655021"/>
            <a:ext cx="754868" cy="754868"/>
          </a:xfrm>
          <a:prstGeom prst="ellipse">
            <a:avLst/>
          </a:prstGeom>
          <a:solidFill>
            <a:srgbClr val="9C6541">
              <a:alpha val="37000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3DA71330-67A1-2F93-C962-B3071B3CAF82}"/>
              </a:ext>
            </a:extLst>
          </p:cNvPr>
          <p:cNvSpPr/>
          <p:nvPr/>
        </p:nvSpPr>
        <p:spPr>
          <a:xfrm>
            <a:off x="10174686" y="4524969"/>
            <a:ext cx="493295" cy="493295"/>
          </a:xfrm>
          <a:prstGeom prst="ellipse">
            <a:avLst/>
          </a:prstGeom>
          <a:solidFill>
            <a:srgbClr val="B2734A">
              <a:alpha val="37000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70265B77-C69E-9FF6-1C5E-437BE39D094F}"/>
              </a:ext>
            </a:extLst>
          </p:cNvPr>
          <p:cNvSpPr/>
          <p:nvPr/>
        </p:nvSpPr>
        <p:spPr>
          <a:xfrm>
            <a:off x="499872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FAAB7007-B7CE-E769-52E5-0CFB68EEDE76}"/>
              </a:ext>
            </a:extLst>
          </p:cNvPr>
          <p:cNvSpPr/>
          <p:nvPr/>
        </p:nvSpPr>
        <p:spPr>
          <a:xfrm>
            <a:off x="497249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CF02D214-6B96-6BC9-0006-7A473A49084E}"/>
              </a:ext>
            </a:extLst>
          </p:cNvPr>
          <p:cNvSpPr/>
          <p:nvPr/>
        </p:nvSpPr>
        <p:spPr>
          <a:xfrm>
            <a:off x="506319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FEE48A24-B9C0-2CB0-B27F-0A697993CA5A}"/>
              </a:ext>
            </a:extLst>
          </p:cNvPr>
          <p:cNvSpPr/>
          <p:nvPr/>
        </p:nvSpPr>
        <p:spPr>
          <a:xfrm>
            <a:off x="492282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8C2290D7-3FC4-E7B1-332B-56397F1FDBCC}"/>
              </a:ext>
            </a:extLst>
          </p:cNvPr>
          <p:cNvSpPr/>
          <p:nvPr/>
        </p:nvSpPr>
        <p:spPr>
          <a:xfrm>
            <a:off x="49228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BB58118E-9641-6355-918B-42F1B57C27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42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C758DC53-5609-90EA-0615-307234C1E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329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F7B001B1-F8E1-06B9-00EA-E3AC1D66AF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88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10150480-521F-99BA-415F-9E3F4581EA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0246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68DAA1F0-133E-27B0-6CB0-ADFB658042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4229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22A9D854-2E32-8ABE-E736-9A41A056C42C}"/>
              </a:ext>
            </a:extLst>
          </p:cNvPr>
          <p:cNvSpPr txBox="1"/>
          <p:nvPr/>
        </p:nvSpPr>
        <p:spPr>
          <a:xfrm>
            <a:off x="1136290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4574CDDA-8C66-4420-3AC8-E239BC47FE86}"/>
              </a:ext>
            </a:extLst>
          </p:cNvPr>
          <p:cNvSpPr txBox="1"/>
          <p:nvPr/>
        </p:nvSpPr>
        <p:spPr>
          <a:xfrm>
            <a:off x="1289492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04D58855-67A2-6DBF-AB52-3B8F2000740E}"/>
              </a:ext>
            </a:extLst>
          </p:cNvPr>
          <p:cNvSpPr txBox="1"/>
          <p:nvPr/>
        </p:nvSpPr>
        <p:spPr>
          <a:xfrm>
            <a:off x="1295939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86CFF15-90D3-F24E-2CDF-90E5AC45CEE9}"/>
              </a:ext>
            </a:extLst>
          </p:cNvPr>
          <p:cNvSpPr txBox="1"/>
          <p:nvPr/>
        </p:nvSpPr>
        <p:spPr>
          <a:xfrm>
            <a:off x="1280189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D614704C-55AE-1038-FE78-8C061A98892A}"/>
              </a:ext>
            </a:extLst>
          </p:cNvPr>
          <p:cNvSpPr txBox="1"/>
          <p:nvPr/>
        </p:nvSpPr>
        <p:spPr>
          <a:xfrm>
            <a:off x="1216117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978BE250-5C22-7CC9-2EA3-65600BE2AC1A}"/>
              </a:ext>
            </a:extLst>
          </p:cNvPr>
          <p:cNvSpPr/>
          <p:nvPr/>
        </p:nvSpPr>
        <p:spPr>
          <a:xfrm>
            <a:off x="-2197100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12E1C15E-5980-72B8-7F9D-65027A138941}"/>
              </a:ext>
            </a:extLst>
          </p:cNvPr>
          <p:cNvCxnSpPr/>
          <p:nvPr/>
        </p:nvCxnSpPr>
        <p:spPr>
          <a:xfrm>
            <a:off x="385011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02964F6-EF6B-58AD-FE07-DC23B68661F4}"/>
              </a:ext>
            </a:extLst>
          </p:cNvPr>
          <p:cNvSpPr txBox="1"/>
          <p:nvPr/>
        </p:nvSpPr>
        <p:spPr>
          <a:xfrm>
            <a:off x="9677837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6" name="Elemento grafico 15" descr="Gruppo di uomini con riempimento a tinta unita">
            <a:extLst>
              <a:ext uri="{FF2B5EF4-FFF2-40B4-BE49-F238E27FC236}">
                <a16:creationId xmlns:a16="http://schemas.microsoft.com/office/drawing/2014/main" id="{7C6C7BB2-202C-85FE-FA08-D0D823B4D4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38012" y="2250820"/>
            <a:ext cx="294890" cy="29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8690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5678D-F24E-7E67-CFD9-007D36FA7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1672DD5E-701A-C7E9-501E-A3A0E3823D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75D4FC2-0FAD-AC15-BBEE-D40D7785F2E1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D6C3FE55-45D6-BDCE-C5AE-E2EC545F5CAF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0D137BFF-0C23-E43D-B45C-BCF4B8A537C3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E94BB676-B890-8E8B-7919-AC5760306691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530B2E6B-13EC-35E3-1979-50B0CF86F8F7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7B3CE73D-BC32-9ECA-FE7C-F257F9C3F4A7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A58B9A3E-8B6C-23A6-68C1-253CEBDFC702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2EED8A6D-9279-11B6-49C0-B234B39D805F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EBD0CF68-CB38-B8E7-C160-E001D064E9EA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2C4B0D4B-6B23-EA0F-0BA0-CCCFDD7C6783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C3533B2A-EE5E-8F04-C7C2-D9E27BA01B56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C3D5EF25-84E6-D4A1-8FFC-3C41574EE152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88D5051-C0EF-89B4-CB23-D2A0F56555F3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98E33644-8D71-7839-D8EE-26C868D7B7FE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4737F017-09B1-BB3C-4C45-704A43BC8B4F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6CAC98A3-5573-A040-7206-ED14CC6602CB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14CB3498-94FD-DA8E-329D-E1F81F63342F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C8DD4619-EDF5-D32B-807F-C1260E1DEDEA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79795971-E653-AC89-016D-0D740F17FA96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2AD028F0-C09E-09DE-A2F9-0393926BD88B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04B6D7D4-36E7-B65D-90B6-A273365D4CE4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3715A2F6-1E34-01A6-DB3B-306413A2B93B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A4EC30D8-A109-7AEE-AA44-6890440DFB6E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F3DA2104-840D-95D6-B72C-C2A7628047CE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E7AD665-3280-8AB5-A1D7-BB80A3C6F50A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2F745A41-0FCA-1040-CDEE-FE3E3DDCA93B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8A07EFF5-790A-A6E7-B5D4-E9BD153F12F5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812D30F7-63DB-7259-0F62-9A6B7E013ADB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39CDCFB1-C9D4-033A-C518-2EE59826A416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D9C4F18-AE57-DB5A-D5A8-BAD01747E04B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AF1EF74F-AA7B-F255-39B8-B5F97804FE58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76B0A16A-0C67-EEFF-44A7-7B3AF6CAD256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02522DD8-228E-60DB-37B0-9EEEA01FB68A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23439507-C3CD-3FE8-FB6D-04F80091D0E3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82FA7CC5-1E03-7D97-E789-360F132E6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0FFC6E3D-A485-22D0-B730-B43AA7DE36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CF7416EB-70D6-EAC5-7184-CE1E324679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DD081602-8167-DDB0-5E49-901C5B17A5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5CD47C66-A7C2-2DC8-6327-BB0EDD368A2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420C2205-F7C7-A434-957A-82979C487424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E57B3210-8135-6BE7-323F-377D431B34B3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05FD5999-924C-89B2-B300-5F5D2A6C8607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B84C270E-5867-66FD-7A4E-6FC39918F7AC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BA9DDAE1-BDCF-F11F-1402-004902EABEBA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FEDDED66-9CD4-C27B-375D-1CE3DD4F4A5C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28DA9BC4-9D9E-0D7B-8D0C-6F804879EAB7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8065098-E719-8085-0C25-8876CD1A9931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9C3C0DFB-E08E-DFF0-7123-AAD706E90C1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E47B4B1D-0440-D021-F08A-EA5F6CD2A5C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3677430" y="376809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521261A-CA2C-0709-5369-8A923299DFBD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51F87819-3749-FC8C-B632-AAF449023CBF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EE7DD73E-497F-FE36-2643-D6FFEF57713D}"/>
              </a:ext>
            </a:extLst>
          </p:cNvPr>
          <p:cNvSpPr txBox="1"/>
          <p:nvPr/>
        </p:nvSpPr>
        <p:spPr>
          <a:xfrm>
            <a:off x="14178556" y="380160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Manual mask</a:t>
            </a:r>
          </a:p>
        </p:txBody>
      </p:sp>
    </p:spTree>
    <p:extLst>
      <p:ext uri="{BB962C8B-B14F-4D97-AF65-F5344CB8AC3E}">
        <p14:creationId xmlns:p14="http://schemas.microsoft.com/office/powerpoint/2010/main" val="327519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FCE7C-7944-448E-7921-72F316C3C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BE69DEF6-7E3C-E2F2-0CC2-8395E8E22E2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329D2A12-5C17-15D9-AB6C-ABBAD5494484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BAF70AD7-E025-AFB5-02A6-3ED000E5E6E4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425977D3-DC2C-08A7-0673-43C856911A99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47AC7F9E-B635-2C72-1ABD-7AE822907FA8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2714C9EB-91F4-B002-BC00-A116E1EAEC7C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6FF02078-792C-0F02-66FB-023741452503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CAF2E51B-711F-0BFE-BE2C-ECE086093715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0952D0CC-9552-F7CA-C50C-5AE6B7843374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5CEDB93F-0FDE-3E0D-0253-268057B2C9A6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AC121A97-D593-D36B-1EC9-5946E3D0DDFA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44C3CA10-8E44-C4F5-42E4-7DEEBA848DD1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065DB271-494E-2B76-4E54-A6B389495700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7A19D11-11F1-04A9-E91C-B9D62A16B758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50C39AAF-4630-630C-D06B-1C254D457ECB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9A3312D1-9959-46F1-BEC5-62A3B744AE47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ABFF91E7-84E7-028A-BAAB-3933CAAC5634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B61B3506-4628-1291-10A8-1A20DE1D189A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5F6CDCDC-0AD5-9998-C94A-FB4D3A9173EC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A2A97284-8695-4CBE-728A-8F9213F3C280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3577C8C6-3DE7-C957-0807-49211D4C984D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7028BD2B-A146-B5AE-B754-AECC688D61DE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D9775B98-FC80-C63A-52C6-1B8E42CEFC6C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D7D8B2D7-A9B9-D57C-9F11-BB0FB8F610FE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76CB09AB-1988-913F-3081-E7EC06ACD0FF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4F799FB0-436A-0F21-4464-C567DB909068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2DD8A4EA-61DC-36E1-66A8-CC90018D4314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72A76C00-4BD9-25F3-949A-82D2D8F2DFE6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8C55F804-17BE-A5E6-F475-A60C663FEDEF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72D48A43-B158-9F2C-389C-39D2E1E505E6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BF9E45C4-E1D2-11E6-2BE3-4DBE4FBA284D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6DDE09A1-8459-6F7B-7F28-A5810EC3DC16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C9F1B93F-40FA-F54B-4B39-228F47C46069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07F608BC-86EF-2B40-BED9-69BFC5B1D618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13CD56C3-E23C-43C3-C5F7-F4895DE5185D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6ED0BFA1-47E5-E7BE-01A0-16D649680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7F6BD647-9E99-C7F8-34B8-01C9120CB3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0A876E87-A16D-F6B5-C93F-F8DAFB6D7F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DBF30F1F-6AE1-0A12-9CFD-1BEDD73E400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3F13ADCE-C6A8-E160-3E18-3B7403373E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FEF12A02-A91A-96B2-558C-7FC712CB4E9B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722A1A66-EFA8-21E1-26B5-4E9C74DDBEC9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1CF33D3C-5A23-D059-17B7-E9E3B0B63FC0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BF2F7EB-D730-22F8-4A54-D2913DDC7444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C3FB1F43-40B6-E7B6-AEE3-A7DA84F6DEAD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82649984-7C31-EC43-D655-9F3B87E8488E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E95EA4D9-48C3-0A2C-E8EE-FD875C96CB2F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4B9D6BA-B6D2-D145-CD0F-0DA23A484046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39852BDB-EB89-BE8A-62CD-2F562D4216D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5C40063E-CA6E-4B6B-3E74-38497C59995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10561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DA301547-4096-E828-4D1B-1F12C8A1F6C5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677430" y="376809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EBC4A233-1CEF-2579-DB15-69424B2FD5E7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AA593175-24EE-6E72-FDB4-9F581F4F4406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1B12BF2B-59C7-80CC-8F64-C7DA91B4DBC8}"/>
              </a:ext>
            </a:extLst>
          </p:cNvPr>
          <p:cNvSpPr txBox="1"/>
          <p:nvPr/>
        </p:nvSpPr>
        <p:spPr>
          <a:xfrm>
            <a:off x="2123880" y="3131459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8CBD387D-6C8F-2AFD-AF86-DF70599A76C7}"/>
              </a:ext>
            </a:extLst>
          </p:cNvPr>
          <p:cNvSpPr txBox="1"/>
          <p:nvPr/>
        </p:nvSpPr>
        <p:spPr>
          <a:xfrm>
            <a:off x="3297136" y="3067707"/>
            <a:ext cx="136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</a:t>
            </a:r>
            <a:r>
              <a:rPr lang="it-IT" sz="20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 </a:t>
            </a:r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B</a:t>
            </a:r>
            <a:endParaRPr lang="it-IT" sz="2000" b="1" dirty="0">
              <a:solidFill>
                <a:srgbClr val="523624"/>
              </a:solidFill>
              <a:latin typeface="SF Pro Display Black" pitchFamily="2" charset="0"/>
              <a:ea typeface="SF Pro Display Black" pitchFamily="2" charset="0"/>
              <a:cs typeface="SF Pro Display Black" pitchFamily="2" charset="0"/>
            </a:endParaRPr>
          </a:p>
        </p:txBody>
      </p:sp>
      <p:pic>
        <p:nvPicPr>
          <p:cNvPr id="73" name="Elemento grafico 72" descr="Ospedale con riempimento a tinta unita">
            <a:extLst>
              <a:ext uri="{FF2B5EF4-FFF2-40B4-BE49-F238E27FC236}">
                <a16:creationId xmlns:a16="http://schemas.microsoft.com/office/drawing/2014/main" id="{39FC48A5-21F7-0D6A-84AF-1F2BDED472C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8262" y="2462757"/>
            <a:ext cx="779514" cy="779514"/>
          </a:xfrm>
          <a:prstGeom prst="rect">
            <a:avLst/>
          </a:prstGeom>
        </p:spPr>
      </p:pic>
      <p:pic>
        <p:nvPicPr>
          <p:cNvPr id="74" name="Elemento grafico 73" descr="Ospedale con riempimento a tinta unita">
            <a:extLst>
              <a:ext uri="{FF2B5EF4-FFF2-40B4-BE49-F238E27FC236}">
                <a16:creationId xmlns:a16="http://schemas.microsoft.com/office/drawing/2014/main" id="{B34A4951-F6DE-594C-3A25-BC594369D3D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9270" y="2471036"/>
            <a:ext cx="789786" cy="789786"/>
          </a:xfrm>
          <a:prstGeom prst="rect">
            <a:avLst/>
          </a:prstGeom>
        </p:spPr>
      </p:pic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18837FAE-0618-5CC4-894B-65C3B6DA78E6}"/>
              </a:ext>
            </a:extLst>
          </p:cNvPr>
          <p:cNvSpPr txBox="1"/>
          <p:nvPr/>
        </p:nvSpPr>
        <p:spPr>
          <a:xfrm>
            <a:off x="14058044" y="379094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CTC volume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BA877793-3FBD-97F1-BE15-3E3A5873EC58}"/>
              </a:ext>
            </a:extLst>
          </p:cNvPr>
          <p:cNvSpPr txBox="1"/>
          <p:nvPr/>
        </p:nvSpPr>
        <p:spPr>
          <a:xfrm>
            <a:off x="14178556" y="380160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Manual mask</a:t>
            </a:r>
          </a:p>
        </p:txBody>
      </p:sp>
    </p:spTree>
    <p:extLst>
      <p:ext uri="{BB962C8B-B14F-4D97-AF65-F5344CB8AC3E}">
        <p14:creationId xmlns:p14="http://schemas.microsoft.com/office/powerpoint/2010/main" val="13108987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49C5-4407-A41A-6DD4-3C7FFAA6E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90E55125-394F-EDDA-A9C0-163F102BDF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F3F99D89-34C1-3152-2DE5-EF0DD3893273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B330E49A-9F3D-B5B3-E984-EBD7CE447EDE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D8B7F7AF-542D-38A5-294C-1AF2719FAD57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92AE3D1C-81B8-6F30-FF90-04CEFD8F9AAA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6AE9121A-1F51-1B1D-AA3B-313574D01196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54AD2C05-D08C-3E55-C026-39DC664DA8D2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420BE296-30A0-F211-5925-CB011291FBC9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A59C97AA-7590-88FD-5CA2-876CC35A016D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4ED0D5EA-7D10-C4D2-84C3-E9865BD8404F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3A4AB227-6749-C366-E56B-4680B50E4D57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1C68BEBC-ABDC-DA36-0169-69A8A18C5A9B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3DECBAD9-DE9D-4628-D9F6-10D38C018D9A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82AA28A-0111-907F-ED0E-53B536D85E59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75DD1F4C-8D71-D6C3-7726-8490EFFF837F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87658766-3361-294F-E0FB-1B97359E2DA8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3A36C29B-D5DD-4D7E-5B81-53BC51D65979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72432E3-BA2F-B385-584D-74F9D45DC43C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A261AED3-2228-D42D-657C-6C6D978446E4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D44787F2-C74E-3D0B-4534-00DD703A99E7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265EBB6C-3E74-D29F-F0A9-C4C4CECBC040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A0CB6555-73D1-6BBF-BA65-888B189199BE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8E0C254F-326D-C40E-557F-03323A25C2D4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7439C2AB-6916-3772-5AE3-27D24DC97D29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19EDE983-C2B9-EA2B-695A-08C37EBB184E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15202A79-4C61-6FBE-5AAE-3DB607CCD0C5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3E85C08E-9A1F-7878-CEBB-5484A2409ADC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F5E1B1FE-9472-B072-AB49-1B05AA239A6A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E16FDD3E-1EEE-4D43-A4F7-6AB947B22F82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FFA096F9-76B8-EE13-629F-56334C47AAA8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8A2AAD2F-1E11-0C9E-F851-46289F462289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55983AEF-C1F0-FDF9-716E-82B1EFDD29DB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0CF7C08B-A7B6-7746-C01A-9B18D4A891B4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8720B6D1-09BA-5F6D-5C3B-10B6BF5350DF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3F2F9206-547B-6DD7-676B-6D7A69D17D7C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DDF3C1E2-90E7-01BE-4A74-FB85A07AD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21728FC7-E42F-3033-9D16-B025039503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07D1CDE9-8692-7D52-A43C-26546A4A99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10444142-60CA-FDA8-4D85-67EB266193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C2D10814-272A-63D0-2C7D-2E5CFD7554A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E88F5C90-2E98-E50F-CBFC-6291E6E25900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6513BC47-2967-BC20-2DE6-0D2B0C249591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F1F61696-6FCD-0731-BCD9-81B83537E6E7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DC388FE1-C336-929D-3CB5-C108B7375DD9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79C26C57-CAE6-BE23-B2AF-B6891A9ED6C0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3174074D-220C-CA6E-103C-C5E01790225F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D3933B7C-1092-12CA-BF30-1F4DD49A9F82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DC2252B2-8BA6-322C-F9C4-4F31188F3B27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2CFB8AB6-E968-21B5-B605-29603617A3B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00546067-B730-F931-092D-5C8A700EB4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6736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2ED8C70B-1ABF-ED17-DFFC-77592150F287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3677430" y="376809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D9DD87D8-447C-D083-9EE2-D88117A3C41B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30A62B09-27FE-5958-EAB2-A2B823541E7F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45BF95CB-8C19-60D5-0718-2BD850794A91}"/>
              </a:ext>
            </a:extLst>
          </p:cNvPr>
          <p:cNvSpPr txBox="1"/>
          <p:nvPr/>
        </p:nvSpPr>
        <p:spPr>
          <a:xfrm>
            <a:off x="2123880" y="3131459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3EF2F59F-5C53-D0F8-9DA2-D46A3EF85926}"/>
              </a:ext>
            </a:extLst>
          </p:cNvPr>
          <p:cNvSpPr txBox="1"/>
          <p:nvPr/>
        </p:nvSpPr>
        <p:spPr>
          <a:xfrm>
            <a:off x="3297136" y="3067707"/>
            <a:ext cx="136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</a:t>
            </a:r>
            <a:r>
              <a:rPr lang="it-IT" sz="20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 </a:t>
            </a:r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B</a:t>
            </a:r>
            <a:endParaRPr lang="it-IT" sz="2000" b="1" dirty="0">
              <a:solidFill>
                <a:srgbClr val="523624"/>
              </a:solidFill>
              <a:latin typeface="SF Pro Display Black" pitchFamily="2" charset="0"/>
              <a:ea typeface="SF Pro Display Black" pitchFamily="2" charset="0"/>
              <a:cs typeface="SF Pro Display Black" pitchFamily="2" charset="0"/>
            </a:endParaRPr>
          </a:p>
        </p:txBody>
      </p:sp>
      <p:pic>
        <p:nvPicPr>
          <p:cNvPr id="73" name="Elemento grafico 72" descr="Ospedale con riempimento a tinta unita">
            <a:extLst>
              <a:ext uri="{FF2B5EF4-FFF2-40B4-BE49-F238E27FC236}">
                <a16:creationId xmlns:a16="http://schemas.microsoft.com/office/drawing/2014/main" id="{F847B9EC-C95E-E312-1824-78CBE90A081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8262" y="2462757"/>
            <a:ext cx="779514" cy="779514"/>
          </a:xfrm>
          <a:prstGeom prst="rect">
            <a:avLst/>
          </a:prstGeom>
        </p:spPr>
      </p:pic>
      <p:pic>
        <p:nvPicPr>
          <p:cNvPr id="74" name="Elemento grafico 73" descr="Ospedale con riempimento a tinta unita">
            <a:extLst>
              <a:ext uri="{FF2B5EF4-FFF2-40B4-BE49-F238E27FC236}">
                <a16:creationId xmlns:a16="http://schemas.microsoft.com/office/drawing/2014/main" id="{2016C2EB-0326-AD60-CF68-96E611BC4D1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9270" y="2471036"/>
            <a:ext cx="789786" cy="789786"/>
          </a:xfrm>
          <a:prstGeom prst="rect">
            <a:avLst/>
          </a:prstGeom>
        </p:spPr>
      </p:pic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6A9136A7-27BC-FA1E-44FD-2293CF94D777}"/>
              </a:ext>
            </a:extLst>
          </p:cNvPr>
          <p:cNvSpPr txBox="1"/>
          <p:nvPr/>
        </p:nvSpPr>
        <p:spPr>
          <a:xfrm>
            <a:off x="2614219" y="379094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CTC volume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159EFBD2-3D4C-6201-2129-A6EEC7810C52}"/>
              </a:ext>
            </a:extLst>
          </p:cNvPr>
          <p:cNvSpPr txBox="1"/>
          <p:nvPr/>
        </p:nvSpPr>
        <p:spPr>
          <a:xfrm>
            <a:off x="14178556" y="380160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Manual mask</a:t>
            </a:r>
          </a:p>
        </p:txBody>
      </p:sp>
    </p:spTree>
    <p:extLst>
      <p:ext uri="{BB962C8B-B14F-4D97-AF65-F5344CB8AC3E}">
        <p14:creationId xmlns:p14="http://schemas.microsoft.com/office/powerpoint/2010/main" val="41199880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B306-0811-4E7B-6714-7B650CABD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430BE401-257D-941D-69C6-9F94798E43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2F4E8A32-8A43-C29F-32D6-F0AAD190CFB0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15EAD65C-6FA2-95CA-E481-4A56A6588982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4196362A-FFAE-C58A-34CB-0E8C3F9018B2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017DA0D7-3696-ADA5-3F73-291FE94B9AF7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66C64F0B-BEEB-F418-46C7-C6B7E69A487C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A8DF7B38-FB75-76D6-4A3E-8D84FB8C35A5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AB4CE370-EF11-4F68-1B16-26E455CC074A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FA204783-1821-C637-D4B6-A0640C80776F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7F774B92-9729-C4BD-7C99-2571C59771D1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0C27AD9C-9380-1663-98FF-95BD97AC0241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136378B0-37A8-4E8B-0831-14F2AFC74D83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E04634F4-0799-CDEB-93A4-DA5BFAA3AB87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641678D9-DFB5-10C9-0C01-91F2E48D1C59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BEA00A93-DA0C-1F46-0029-CCE519A58B83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8D60BFC7-DCE8-FD53-3E46-B8A46F2CE4B4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E1CC1EB5-5842-0FD0-1A1E-BE67D89C52D4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26026A21-DC18-0DAE-1380-20DAA7C88D86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74FDFBA8-610E-E61A-B601-5DAAF8E0CD34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D50C00BA-7650-CF10-D4CE-64C4BB44DA4B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F7D42464-83AB-7525-287E-3C3B9369EF80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10FBDA28-C045-8A14-A73C-CFC280DE5B20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3695B03E-FE79-B4B8-1D65-ACD1D0CED4BA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79A13D15-700B-6651-1F7C-6696B2A0F095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B4D727E9-EBB9-BEB5-5211-E21817519311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C2A69F73-31A5-95A2-9370-5806D73283BF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F2A251D0-6146-D3F0-24F6-6A17B785D2A1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C4AC18F5-8BDA-A1AD-8DCD-93ED45A6CDB6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F97B5278-264F-B7CC-C7F8-1DE978810E63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4745D124-88BD-5CF0-2C47-FAD9CBC2327B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B5F3B1BD-BDCF-D59A-0474-8B9F222E7A33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54C29FBB-24EF-DC69-93E5-C93E643BECE6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34710C97-D636-067A-BC01-7AE66DEFCC80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BE47E2B9-87D4-D6D1-787C-B7F584AC5839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58DADC19-D0DA-1C35-8051-99C62BD710C6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09D3025D-8D8A-FC87-109E-1431723DF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FF2744E0-5710-CD00-DA7D-86167CF96A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75D1EEEC-8D28-F694-6066-813F55969E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E06B4A4C-AF83-A690-C975-8471A6CE381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D7E3C93F-FC71-2F3E-A415-A713E07929F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7017859F-5233-014C-09E9-37DF966E0843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9957737B-2517-95CB-BF83-F5031FF9EA96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95349E23-8FBA-FEF4-4509-6CC7B7A7ED5D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3D09C60C-5A21-0172-A5D2-FD2F3388CD85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585790A7-5327-9A1F-CCE2-7E3B7D118C16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4151DCB0-50B7-6D75-3617-3D733DFDBC86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32FDB3BC-65DE-7B10-5897-64D5B2C8A4FC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8A27BB-8F2D-58FA-67A9-F2076AED11D2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0D318FF9-B5C7-8F35-AEDB-AAC0FB942F8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5BCE447D-7263-4575-8A29-E817AA57D4C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8222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B8611666-C8B2-17BE-CDDB-CFEDE583D845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517423" y="376809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4EFECD84-8DE5-6106-CD81-01D52B2D7029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0CCD469F-3639-6282-ECE5-AB5660433B1E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9E725E5F-699F-FACF-563A-33C6ECA4D54A}"/>
              </a:ext>
            </a:extLst>
          </p:cNvPr>
          <p:cNvSpPr txBox="1"/>
          <p:nvPr/>
        </p:nvSpPr>
        <p:spPr>
          <a:xfrm>
            <a:off x="1075705" y="379094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CTC volume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56F5FE37-C29C-150F-2691-789F72868FFA}"/>
              </a:ext>
            </a:extLst>
          </p:cNvPr>
          <p:cNvSpPr txBox="1"/>
          <p:nvPr/>
        </p:nvSpPr>
        <p:spPr>
          <a:xfrm>
            <a:off x="4018549" y="3801602"/>
            <a:ext cx="1655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Thin" pitchFamily="2" charset="0"/>
                <a:ea typeface="SF Pro Display Thin" pitchFamily="2" charset="0"/>
                <a:cs typeface="SF Pro Display Thin" pitchFamily="2" charset="0"/>
              </a:rPr>
              <a:t>Manual mask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BA9F1B15-51ED-25A7-1AFF-FCC0CACBD84B}"/>
              </a:ext>
            </a:extLst>
          </p:cNvPr>
          <p:cNvSpPr txBox="1"/>
          <p:nvPr/>
        </p:nvSpPr>
        <p:spPr>
          <a:xfrm>
            <a:off x="2123880" y="3131459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DACF0842-E8A4-BB98-FFFD-7135CB6B28B1}"/>
              </a:ext>
            </a:extLst>
          </p:cNvPr>
          <p:cNvSpPr txBox="1"/>
          <p:nvPr/>
        </p:nvSpPr>
        <p:spPr>
          <a:xfrm>
            <a:off x="3297136" y="3067707"/>
            <a:ext cx="136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</a:t>
            </a:r>
            <a:r>
              <a:rPr lang="it-IT" sz="20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 </a:t>
            </a:r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B</a:t>
            </a:r>
            <a:endParaRPr lang="it-IT" sz="2000" b="1" dirty="0">
              <a:solidFill>
                <a:srgbClr val="523624"/>
              </a:solidFill>
              <a:latin typeface="SF Pro Display Black" pitchFamily="2" charset="0"/>
              <a:ea typeface="SF Pro Display Black" pitchFamily="2" charset="0"/>
              <a:cs typeface="SF Pro Display Black" pitchFamily="2" charset="0"/>
            </a:endParaRPr>
          </a:p>
        </p:txBody>
      </p:sp>
      <p:pic>
        <p:nvPicPr>
          <p:cNvPr id="83" name="Elemento grafico 82" descr="Ospedale con riempimento a tinta unita">
            <a:extLst>
              <a:ext uri="{FF2B5EF4-FFF2-40B4-BE49-F238E27FC236}">
                <a16:creationId xmlns:a16="http://schemas.microsoft.com/office/drawing/2014/main" id="{A070C939-8E3B-B7AB-1E55-4DA7389080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8262" y="2462757"/>
            <a:ext cx="779514" cy="779514"/>
          </a:xfrm>
          <a:prstGeom prst="rect">
            <a:avLst/>
          </a:prstGeom>
        </p:spPr>
      </p:pic>
      <p:pic>
        <p:nvPicPr>
          <p:cNvPr id="84" name="Elemento grafico 83" descr="Ospedale con riempimento a tinta unita">
            <a:extLst>
              <a:ext uri="{FF2B5EF4-FFF2-40B4-BE49-F238E27FC236}">
                <a16:creationId xmlns:a16="http://schemas.microsoft.com/office/drawing/2014/main" id="{94868AAB-5904-A918-99E3-0BA8B2C058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9270" y="2471036"/>
            <a:ext cx="789786" cy="78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4016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1C03E-5F75-646A-8A3D-6C67A7372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B743947D-1174-388C-5DEA-89E82278AC0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4037AA45-213A-6EBE-EE1F-0F5D928F6F44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AFB021C0-507E-6EB7-3E19-EBE6AFF0243B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B2D04346-9FB8-AB67-F08E-A86584FA36AB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6CED5359-AD0D-B78E-C85B-3F326C49B57C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F5309CC7-92AA-B9B5-6832-09738ED88AC2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C173F4B3-7BFD-A03F-370E-31CA1286DDE8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16213007-6682-2AEB-AED5-B80CA452AD34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5A746BD2-F8EC-AB77-DF2A-1D5D38086BE2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2DEDAB44-11C5-0D8D-2180-FA72D39530D9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C31B7B4C-A2EF-5D86-9564-EA2B225FFB7D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7F7B6E9F-A411-56D0-73E3-5182C1C9A63D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0D40ED1B-505E-48EB-D2B0-80F666A50B61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47266E34-05B5-91EB-FD13-4A60A0DFEF86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353CECD6-5C64-F617-0D36-60E483F547C1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E63BD947-813C-65DD-00F6-4210B28A7D17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702D298D-C7E4-D9F7-A04D-328DAEEFFB31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62FAE00-8565-9E65-CAA2-DFF196186411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705ED09F-8716-2537-19EC-4F379754A43C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7B57B83B-CFD1-BF4E-ED1E-9635FBABF55E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50A581F4-5D8E-8BCF-F20E-120944700A7E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C70AD4F9-C33D-61EC-2B4F-86B1AF96E8AA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0201DEE3-678F-D4C5-50AA-4CB4AFCF5A4D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5C6272F2-9228-6CC9-4CD4-866276AF4294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9828FDBE-10B4-7954-E4D5-CBC17A814A15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650E9130-A9FD-26F9-1F16-0433F2F07D92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4308E2F1-93E6-F077-552B-11FC9960A3A2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19C2DF99-52E1-A6D1-4C5C-FED8F0865905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1A2C4E22-A101-951B-F3A1-BC76EC11B4F3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D1DFA093-686F-950C-B637-187D76CE44BE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451DDE09-60BE-8A06-8543-E4CA0ABC2243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28656E72-802A-C1BD-A59A-0F040F778DE6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9FBE1C72-D539-55D0-D229-2E72CB8E11B3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D753B8EE-4104-5DAA-A8F4-39E518AD1898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6EAA98B2-8598-FE90-3DBE-61507B62022A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4ACDB3FE-7D94-7D12-8BE7-8BBE108398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8263A0C2-2479-293C-2950-166C054AF1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CD0CD7DC-904D-E3D1-B45C-794844FC99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593672C4-2CFD-E2D3-E6EE-C756DDD450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C5EDFE7B-37E5-BF03-EB6F-26EE5CDBBD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208E82F9-AF1B-874B-C866-A32F77EAF087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B248C6EA-D459-2772-43C7-9256E93A0B35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3E4D6634-F9AD-9BA0-23F8-B0AB2E3F6516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BF69F06B-C20B-A9A6-2DDC-F7DFCEB03508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883AD251-729A-6CA7-CD56-5783F781F6ED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3B179840-6675-E36E-1D22-434C9CBAFA7C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E93F21FE-5D50-AC1F-562A-201351C3006B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6F65B7B-F96B-2D23-9128-F8D5CBA0B5B2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FDA3CF84-EC07-CB10-4D99-9B1374B8FAD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16B97BB2-ABB3-B466-569C-45FDFEBD3F0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4508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F0D01589-0551-4D60-4364-5D409F83D09D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042212" y="379183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32C7375-0273-A0DC-402E-B1560857C2A2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F3F11A69-B255-D2AF-6606-A209E7557119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BC41A59F-52D8-AD80-78FB-9F84A12A7D78}"/>
              </a:ext>
            </a:extLst>
          </p:cNvPr>
          <p:cNvSpPr txBox="1"/>
          <p:nvPr/>
        </p:nvSpPr>
        <p:spPr>
          <a:xfrm>
            <a:off x="2123880" y="3131459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4760401D-6807-D0BD-F5DF-19B5A4AFCAE1}"/>
              </a:ext>
            </a:extLst>
          </p:cNvPr>
          <p:cNvSpPr txBox="1"/>
          <p:nvPr/>
        </p:nvSpPr>
        <p:spPr>
          <a:xfrm>
            <a:off x="3297136" y="3067707"/>
            <a:ext cx="136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</a:t>
            </a:r>
            <a:r>
              <a:rPr lang="it-IT" sz="20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 </a:t>
            </a:r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B</a:t>
            </a:r>
            <a:endParaRPr lang="it-IT" sz="2000" b="1" dirty="0">
              <a:solidFill>
                <a:srgbClr val="523624"/>
              </a:solidFill>
              <a:latin typeface="SF Pro Display Black" pitchFamily="2" charset="0"/>
              <a:ea typeface="SF Pro Display Black" pitchFamily="2" charset="0"/>
              <a:cs typeface="SF Pro Display Black" pitchFamily="2" charset="0"/>
            </a:endParaRPr>
          </a:p>
        </p:txBody>
      </p:sp>
      <p:pic>
        <p:nvPicPr>
          <p:cNvPr id="83" name="Elemento grafico 82" descr="Ospedale con riempimento a tinta unita">
            <a:extLst>
              <a:ext uri="{FF2B5EF4-FFF2-40B4-BE49-F238E27FC236}">
                <a16:creationId xmlns:a16="http://schemas.microsoft.com/office/drawing/2014/main" id="{17A75231-6555-0147-EA1D-13D41AB1BB8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8262" y="2462757"/>
            <a:ext cx="779514" cy="779514"/>
          </a:xfrm>
          <a:prstGeom prst="rect">
            <a:avLst/>
          </a:prstGeom>
        </p:spPr>
      </p:pic>
      <p:pic>
        <p:nvPicPr>
          <p:cNvPr id="84" name="Elemento grafico 83" descr="Ospedale con riempimento a tinta unita">
            <a:extLst>
              <a:ext uri="{FF2B5EF4-FFF2-40B4-BE49-F238E27FC236}">
                <a16:creationId xmlns:a16="http://schemas.microsoft.com/office/drawing/2014/main" id="{4458420B-02CF-7355-4511-4B3AE9214EF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9270" y="2471036"/>
            <a:ext cx="789786" cy="78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3830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92696-FE5E-03F1-7893-5D067EBC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126D0DA7-487B-85EA-8E2A-1BB09AC176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57EEAD1C-92FB-D0F5-0FAC-672B8A61601A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09CF6EAC-09E9-C045-3675-9BD42FA718F6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6A8C3234-6555-8CE2-7B60-080801894418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A1674617-9733-2441-3797-E84B5EBF40BF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FE55EDB6-0753-96A3-B22B-3095738AB457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912C270E-4033-5EA7-5295-4D6ABC7A843A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69D67327-F19F-08A4-BE77-985844E17A55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D58E63E8-1A2C-8CD2-BDCD-21497DBE9C68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90957ED5-CFB8-7A9A-CF50-D45B57D6EF10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9F64810E-7543-5C5E-A2B9-FE07D11607F4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55727172-014A-0988-FD3A-A1DCD259BDDB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9AED8481-91E1-B568-5165-E1F9460BB68D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2B516892-5EC0-9638-9C08-110347A5ABB1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BFD65A5E-88D6-5D7B-3F68-51B0FB29A94B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3404EE4-C7D2-35FC-7268-A0FC65BA0C0B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2BD583E4-0204-C3ED-6F38-4BEA1872A261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0662F2B9-B21F-BBC9-E5A4-28ED4C396819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662EC278-5E51-B560-E880-F7E3EE41E48A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52F20C1D-A2C2-EB23-592F-5AD504729615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734F5CCA-D5BF-50F8-A826-39ECAC90FB37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13685D6A-B58F-D678-78DF-BD845B15E5D6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484A5071-1E16-B323-B6F3-BF7164129731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6C3BA4AB-6E36-DFC3-0B95-51F27CEBA0E2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665666B3-5A80-92FC-4A7B-6CADAEA26C9E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49FFD009-C019-8AC7-6699-8E6481F17F0C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63F9BF2D-FD50-2CD4-BEAA-566F38D154D3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2E47DC37-17E0-226A-9AF8-9E76307FFFDA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FE5B3097-C1B3-3568-08F6-8B7037D54554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876A337F-3E97-E4B6-F7F8-691A3B0D8AC8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C96C4AC5-C0D4-81F4-6568-E026E42E2563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D6AEA950-F68C-8B38-93EF-46B1368E2428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0B755587-9F7E-68CA-C340-AED46DE2EACF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CE6BFFEB-1068-06DD-3E7D-21A3D776E6BE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DC88CCA6-9DC8-B089-B5A5-C1308923E30B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4D2901CB-1260-D6C6-AF63-4C1EC8DD6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F3B6FC42-C118-0B63-F08E-7A45AC865E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C6F5660A-6F7F-8B21-ABA9-DCC0FDD655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9A974E30-8A71-B7EA-BA57-30C0CFA452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01BD0819-2C9E-E702-54AD-304916317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A9158CA5-C12E-541E-79F6-65EA27B8FAA5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E0809B56-72B4-1337-A204-14EF73918F18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EA2EC995-7C75-12C8-852A-00E2B59A2795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E6D97F90-D869-19A9-1F8A-232FC0BB0FA1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B689BE16-7AC6-D589-53FD-547E88E171DE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26F9BB65-B00F-4598-86EB-EBAA4C0304BA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F11BC1D6-E1D1-7080-8567-6F34C8596BF0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135883-20E1-9C18-EA82-B88A7B0247D6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D486B8F8-0439-9A56-9581-256C1C0B34C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FBFC8427-6548-9FB4-9845-094BBB900F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4508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BDBB6357-39DE-9A6F-293E-981BC26383CF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0"/>
          </a:blip>
          <a:stretch>
            <a:fillRect/>
          </a:stretch>
        </p:blipFill>
        <p:spPr>
          <a:xfrm>
            <a:off x="2042212" y="379183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83ADE354-CD12-8911-EED9-F2BF44E908F7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7F740D6-E601-C54F-15CC-23E1C4EBF2DA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B4B617D7-49B0-93FE-F003-A4D804255AD7}"/>
              </a:ext>
            </a:extLst>
          </p:cNvPr>
          <p:cNvSpPr txBox="1"/>
          <p:nvPr/>
        </p:nvSpPr>
        <p:spPr>
          <a:xfrm>
            <a:off x="2123880" y="3131459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B9E9B2F9-D03A-C48F-1BDA-6E6F178EB447}"/>
              </a:ext>
            </a:extLst>
          </p:cNvPr>
          <p:cNvSpPr txBox="1"/>
          <p:nvPr/>
        </p:nvSpPr>
        <p:spPr>
          <a:xfrm>
            <a:off x="3297136" y="3067707"/>
            <a:ext cx="136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</a:t>
            </a:r>
            <a:r>
              <a:rPr lang="it-IT" sz="20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 </a:t>
            </a:r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B</a:t>
            </a:r>
            <a:endParaRPr lang="it-IT" sz="2000" b="1" dirty="0">
              <a:solidFill>
                <a:srgbClr val="523624"/>
              </a:solidFill>
              <a:latin typeface="SF Pro Display Black" pitchFamily="2" charset="0"/>
              <a:ea typeface="SF Pro Display Black" pitchFamily="2" charset="0"/>
              <a:cs typeface="SF Pro Display Black" pitchFamily="2" charset="0"/>
            </a:endParaRPr>
          </a:p>
        </p:txBody>
      </p:sp>
      <p:pic>
        <p:nvPicPr>
          <p:cNvPr id="83" name="Elemento grafico 82" descr="Ospedale con riempimento a tinta unita">
            <a:extLst>
              <a:ext uri="{FF2B5EF4-FFF2-40B4-BE49-F238E27FC236}">
                <a16:creationId xmlns:a16="http://schemas.microsoft.com/office/drawing/2014/main" id="{127B7539-88C6-5365-64FB-ECA4A4662E1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8262" y="2462757"/>
            <a:ext cx="779514" cy="779514"/>
          </a:xfrm>
          <a:prstGeom prst="rect">
            <a:avLst/>
          </a:prstGeom>
        </p:spPr>
      </p:pic>
      <p:pic>
        <p:nvPicPr>
          <p:cNvPr id="84" name="Elemento grafico 83" descr="Ospedale con riempimento a tinta unita">
            <a:extLst>
              <a:ext uri="{FF2B5EF4-FFF2-40B4-BE49-F238E27FC236}">
                <a16:creationId xmlns:a16="http://schemas.microsoft.com/office/drawing/2014/main" id="{445D09BE-4768-640A-3B9D-D4CD4CDC2C5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9270" y="2471036"/>
            <a:ext cx="789786" cy="789786"/>
          </a:xfrm>
          <a:prstGeom prst="rect">
            <a:avLst/>
          </a:prstGeom>
        </p:spPr>
      </p:pic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C9D229FB-419F-D5FD-984C-BAA0D693D686}"/>
              </a:ext>
            </a:extLst>
          </p:cNvPr>
          <p:cNvSpPr/>
          <p:nvPr/>
        </p:nvSpPr>
        <p:spPr>
          <a:xfrm>
            <a:off x="3486150" y="5218872"/>
            <a:ext cx="161973" cy="261178"/>
          </a:xfrm>
          <a:custGeom>
            <a:avLst/>
            <a:gdLst>
              <a:gd name="csX0" fmla="*/ 38100 w 161973"/>
              <a:gd name="csY0" fmla="*/ 4003 h 261178"/>
              <a:gd name="csX1" fmla="*/ 101600 w 161973"/>
              <a:gd name="csY1" fmla="*/ 4003 h 261178"/>
              <a:gd name="csX2" fmla="*/ 104775 w 161973"/>
              <a:gd name="csY2" fmla="*/ 13528 h 261178"/>
              <a:gd name="csX3" fmla="*/ 101600 w 161973"/>
              <a:gd name="csY3" fmla="*/ 29403 h 261178"/>
              <a:gd name="csX4" fmla="*/ 111125 w 161973"/>
              <a:gd name="csY4" fmla="*/ 26228 h 261178"/>
              <a:gd name="csX5" fmla="*/ 146050 w 161973"/>
              <a:gd name="csY5" fmla="*/ 29403 h 261178"/>
              <a:gd name="csX6" fmla="*/ 155575 w 161973"/>
              <a:gd name="csY6" fmla="*/ 32578 h 261178"/>
              <a:gd name="csX7" fmla="*/ 161925 w 161973"/>
              <a:gd name="csY7" fmla="*/ 42103 h 261178"/>
              <a:gd name="csX8" fmla="*/ 152400 w 161973"/>
              <a:gd name="csY8" fmla="*/ 61153 h 261178"/>
              <a:gd name="csX9" fmla="*/ 142875 w 161973"/>
              <a:gd name="csY9" fmla="*/ 67503 h 261178"/>
              <a:gd name="csX10" fmla="*/ 136525 w 161973"/>
              <a:gd name="csY10" fmla="*/ 86553 h 261178"/>
              <a:gd name="csX11" fmla="*/ 133350 w 161973"/>
              <a:gd name="csY11" fmla="*/ 96078 h 261178"/>
              <a:gd name="csX12" fmla="*/ 117475 w 161973"/>
              <a:gd name="csY12" fmla="*/ 118303 h 261178"/>
              <a:gd name="csX13" fmla="*/ 114300 w 161973"/>
              <a:gd name="csY13" fmla="*/ 127828 h 261178"/>
              <a:gd name="csX14" fmla="*/ 98425 w 161973"/>
              <a:gd name="csY14" fmla="*/ 156403 h 261178"/>
              <a:gd name="csX15" fmla="*/ 101600 w 161973"/>
              <a:gd name="csY15" fmla="*/ 194503 h 261178"/>
              <a:gd name="csX16" fmla="*/ 107950 w 161973"/>
              <a:gd name="csY16" fmla="*/ 213553 h 261178"/>
              <a:gd name="csX17" fmla="*/ 101600 w 161973"/>
              <a:gd name="csY17" fmla="*/ 248478 h 261178"/>
              <a:gd name="csX18" fmla="*/ 95250 w 161973"/>
              <a:gd name="csY18" fmla="*/ 258003 h 261178"/>
              <a:gd name="csX19" fmla="*/ 85725 w 161973"/>
              <a:gd name="csY19" fmla="*/ 261178 h 261178"/>
              <a:gd name="csX20" fmla="*/ 57150 w 161973"/>
              <a:gd name="csY20" fmla="*/ 245303 h 261178"/>
              <a:gd name="csX21" fmla="*/ 47625 w 161973"/>
              <a:gd name="csY21" fmla="*/ 238953 h 261178"/>
              <a:gd name="csX22" fmla="*/ 34925 w 161973"/>
              <a:gd name="csY22" fmla="*/ 219903 h 261178"/>
              <a:gd name="csX23" fmla="*/ 28575 w 161973"/>
              <a:gd name="csY23" fmla="*/ 210378 h 261178"/>
              <a:gd name="csX24" fmla="*/ 12700 w 161973"/>
              <a:gd name="csY24" fmla="*/ 191328 h 261178"/>
              <a:gd name="csX25" fmla="*/ 9525 w 161973"/>
              <a:gd name="csY25" fmla="*/ 181803 h 261178"/>
              <a:gd name="csX26" fmla="*/ 0 w 161973"/>
              <a:gd name="csY26" fmla="*/ 162753 h 261178"/>
              <a:gd name="csX27" fmla="*/ 3175 w 161973"/>
              <a:gd name="csY27" fmla="*/ 111953 h 261178"/>
              <a:gd name="csX28" fmla="*/ 15875 w 161973"/>
              <a:gd name="csY28" fmla="*/ 83378 h 261178"/>
              <a:gd name="csX29" fmla="*/ 19050 w 161973"/>
              <a:gd name="csY29" fmla="*/ 73853 h 261178"/>
              <a:gd name="csX30" fmla="*/ 22225 w 161973"/>
              <a:gd name="csY30" fmla="*/ 51628 h 261178"/>
              <a:gd name="csX31" fmla="*/ 25400 w 161973"/>
              <a:gd name="csY31" fmla="*/ 7178 h 261178"/>
              <a:gd name="csX32" fmla="*/ 38100 w 161973"/>
              <a:gd name="csY32" fmla="*/ 4003 h 26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61973" h="261178">
                <a:moveTo>
                  <a:pt x="38100" y="4003"/>
                </a:moveTo>
                <a:cubicBezTo>
                  <a:pt x="50800" y="3474"/>
                  <a:pt x="79161" y="-2901"/>
                  <a:pt x="101600" y="4003"/>
                </a:cubicBezTo>
                <a:cubicBezTo>
                  <a:pt x="104799" y="4987"/>
                  <a:pt x="103717" y="10353"/>
                  <a:pt x="104775" y="13528"/>
                </a:cubicBezTo>
                <a:cubicBezTo>
                  <a:pt x="103717" y="18820"/>
                  <a:pt x="99187" y="24576"/>
                  <a:pt x="101600" y="29403"/>
                </a:cubicBezTo>
                <a:cubicBezTo>
                  <a:pt x="103097" y="32396"/>
                  <a:pt x="107778" y="26228"/>
                  <a:pt x="111125" y="26228"/>
                </a:cubicBezTo>
                <a:cubicBezTo>
                  <a:pt x="122815" y="26228"/>
                  <a:pt x="134408" y="28345"/>
                  <a:pt x="146050" y="29403"/>
                </a:cubicBezTo>
                <a:cubicBezTo>
                  <a:pt x="149225" y="30461"/>
                  <a:pt x="152962" y="30487"/>
                  <a:pt x="155575" y="32578"/>
                </a:cubicBezTo>
                <a:cubicBezTo>
                  <a:pt x="158555" y="34962"/>
                  <a:pt x="161298" y="38339"/>
                  <a:pt x="161925" y="42103"/>
                </a:cubicBezTo>
                <a:cubicBezTo>
                  <a:pt x="162663" y="46530"/>
                  <a:pt x="154769" y="58784"/>
                  <a:pt x="152400" y="61153"/>
                </a:cubicBezTo>
                <a:cubicBezTo>
                  <a:pt x="149702" y="63851"/>
                  <a:pt x="146050" y="65386"/>
                  <a:pt x="142875" y="67503"/>
                </a:cubicBezTo>
                <a:lnTo>
                  <a:pt x="136525" y="86553"/>
                </a:lnTo>
                <a:cubicBezTo>
                  <a:pt x="135467" y="89728"/>
                  <a:pt x="135358" y="93401"/>
                  <a:pt x="133350" y="96078"/>
                </a:cubicBezTo>
                <a:cubicBezTo>
                  <a:pt x="131193" y="98954"/>
                  <a:pt x="119796" y="113660"/>
                  <a:pt x="117475" y="118303"/>
                </a:cubicBezTo>
                <a:cubicBezTo>
                  <a:pt x="115978" y="121296"/>
                  <a:pt x="115925" y="124902"/>
                  <a:pt x="114300" y="127828"/>
                </a:cubicBezTo>
                <a:cubicBezTo>
                  <a:pt x="96104" y="160580"/>
                  <a:pt x="105609" y="134850"/>
                  <a:pt x="98425" y="156403"/>
                </a:cubicBezTo>
                <a:cubicBezTo>
                  <a:pt x="99483" y="169103"/>
                  <a:pt x="99505" y="181932"/>
                  <a:pt x="101600" y="194503"/>
                </a:cubicBezTo>
                <a:cubicBezTo>
                  <a:pt x="102700" y="201105"/>
                  <a:pt x="107950" y="213553"/>
                  <a:pt x="107950" y="213553"/>
                </a:cubicBezTo>
                <a:cubicBezTo>
                  <a:pt x="106856" y="222309"/>
                  <a:pt x="106494" y="238689"/>
                  <a:pt x="101600" y="248478"/>
                </a:cubicBezTo>
                <a:cubicBezTo>
                  <a:pt x="99893" y="251891"/>
                  <a:pt x="98230" y="255619"/>
                  <a:pt x="95250" y="258003"/>
                </a:cubicBezTo>
                <a:cubicBezTo>
                  <a:pt x="92637" y="260094"/>
                  <a:pt x="88900" y="260120"/>
                  <a:pt x="85725" y="261178"/>
                </a:cubicBezTo>
                <a:cubicBezTo>
                  <a:pt x="68960" y="255590"/>
                  <a:pt x="78985" y="259859"/>
                  <a:pt x="57150" y="245303"/>
                </a:cubicBezTo>
                <a:lnTo>
                  <a:pt x="47625" y="238953"/>
                </a:lnTo>
                <a:lnTo>
                  <a:pt x="34925" y="219903"/>
                </a:lnTo>
                <a:cubicBezTo>
                  <a:pt x="32808" y="216728"/>
                  <a:pt x="31273" y="213076"/>
                  <a:pt x="28575" y="210378"/>
                </a:cubicBezTo>
                <a:cubicBezTo>
                  <a:pt x="21553" y="203356"/>
                  <a:pt x="17120" y="200169"/>
                  <a:pt x="12700" y="191328"/>
                </a:cubicBezTo>
                <a:cubicBezTo>
                  <a:pt x="11203" y="188335"/>
                  <a:pt x="11022" y="184796"/>
                  <a:pt x="9525" y="181803"/>
                </a:cubicBezTo>
                <a:cubicBezTo>
                  <a:pt x="-2785" y="157184"/>
                  <a:pt x="7980" y="186694"/>
                  <a:pt x="0" y="162753"/>
                </a:cubicBezTo>
                <a:cubicBezTo>
                  <a:pt x="1058" y="145820"/>
                  <a:pt x="883" y="128764"/>
                  <a:pt x="3175" y="111953"/>
                </a:cubicBezTo>
                <a:cubicBezTo>
                  <a:pt x="6247" y="89427"/>
                  <a:pt x="8369" y="98390"/>
                  <a:pt x="15875" y="83378"/>
                </a:cubicBezTo>
                <a:cubicBezTo>
                  <a:pt x="17372" y="80385"/>
                  <a:pt x="17992" y="77028"/>
                  <a:pt x="19050" y="73853"/>
                </a:cubicBezTo>
                <a:cubicBezTo>
                  <a:pt x="20108" y="66445"/>
                  <a:pt x="21515" y="59078"/>
                  <a:pt x="22225" y="51628"/>
                </a:cubicBezTo>
                <a:cubicBezTo>
                  <a:pt x="23633" y="36840"/>
                  <a:pt x="21797" y="21589"/>
                  <a:pt x="25400" y="7178"/>
                </a:cubicBezTo>
                <a:cubicBezTo>
                  <a:pt x="28990" y="-7182"/>
                  <a:pt x="25400" y="4532"/>
                  <a:pt x="38100" y="400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15BAB9B7-346B-ED06-ED13-34F2AD17089A}"/>
              </a:ext>
            </a:extLst>
          </p:cNvPr>
          <p:cNvSpPr txBox="1"/>
          <p:nvPr/>
        </p:nvSpPr>
        <p:spPr>
          <a:xfrm>
            <a:off x="2027033" y="3777560"/>
            <a:ext cx="275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 (</a:t>
            </a:r>
            <a:r>
              <a:rPr lang="it-IT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Region</a:t>
            </a:r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of </a:t>
            </a:r>
            <a:r>
              <a:rPr lang="it-IT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Interest</a:t>
            </a:r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052187F-8730-5808-D95E-8AC76095E42F}"/>
              </a:ext>
            </a:extLst>
          </p:cNvPr>
          <p:cNvSpPr txBox="1"/>
          <p:nvPr/>
        </p:nvSpPr>
        <p:spPr>
          <a:xfrm>
            <a:off x="13740586" y="4515711"/>
            <a:ext cx="41521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66422B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REFERENCE STANDARD</a:t>
            </a:r>
          </a:p>
          <a:p>
            <a:pPr algn="ctr"/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Diverticular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disease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(Class 0)</a:t>
            </a:r>
          </a:p>
          <a:p>
            <a:pPr algn="ctr"/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Colorectal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cancer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(Class 1)</a:t>
            </a:r>
          </a:p>
        </p:txBody>
      </p:sp>
    </p:spTree>
    <p:extLst>
      <p:ext uri="{BB962C8B-B14F-4D97-AF65-F5344CB8AC3E}">
        <p14:creationId xmlns:p14="http://schemas.microsoft.com/office/powerpoint/2010/main" val="242449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0B7E8-CDDB-8A35-1F5D-9C7C9527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18DF7B46-83C6-235E-A718-52789C74B26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C4501E56-7C52-06EA-6BCB-6BC71BC81C9A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8146BF14-CE8C-F762-4E9C-F782B47E63AD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794E885B-BCE6-ABD6-0E76-CEC6B6E6C2DB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51ED883F-ED3C-9872-F54C-E822EC4E2C9B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5BC4EAD9-B348-6F17-D630-C8E22694245C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7D2AC5E7-9AC2-D757-A167-FEB875FFF821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A78A0F9A-5786-29AA-243E-CDAB5E7EC00E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33C1FEA8-E9E1-6FAD-5995-881A5C651CF0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45C923B3-E720-1BF5-655A-9E41A90C2DA9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B6DED985-7F05-B363-3D7D-05EF28E749D4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360CBFB-2D37-D769-0CA4-FD9538C1A7F9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73C71ACB-AE17-E502-C472-86FF247107F7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D99C586E-5A3B-3E4C-4E53-A7EAEBA6A902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96258E2A-1001-1614-541C-8806EC0B43E9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42DD16DD-78FE-34C5-DED9-241CDDF22718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C7B2FCA5-E3E6-FDA0-FC0F-3337E8841AEB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29AE01EA-43C4-B0BC-319C-C40AF1C6A683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DE9C8664-FF10-0B95-92A8-A2F7682AE4C0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C6068000-1211-C3EC-704A-DA240189455E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EB363D63-F918-55FE-C613-3D2CCC82826E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7A5F884C-AA76-01D3-9B60-CAA0DC72821B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B49A63F7-5031-CFC9-5F58-05B02C179C96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B6DCE501-7A37-097A-760E-81ACEB06A244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E54A5A3-F41F-0463-D739-D3B1226B9E95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E8E10B86-E731-B887-ABF8-8FC26F8D2AD4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A4F48028-008D-3F2A-7142-69C27D2230DB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59AD61B2-A158-9D7E-E6B9-E4EADFEA8354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04AB9865-3CE6-84F8-11D9-D45D4C8F0DCD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A94FC27D-656F-EAAD-4088-5E4694A60C4D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5ECDF9DA-9221-AC66-F0E1-C4527EF68857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0BF7DC10-B435-A8C1-29CF-32C17EFA2938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DB6E1CCF-4E49-0209-A2A7-AEF34F9D5945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6AC872CD-9DC1-AB1F-C39A-DD5E285EFC42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6CD7251A-0CFB-1456-05DD-B86D6725A956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87AF0107-B5B1-61B9-68F2-3ACFF5985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C3946DD7-E1E8-D326-C02E-3B697502DD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410B2E2F-4C94-60A5-833B-19DEF13709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24B7D4E7-DE06-1665-E395-9FBB71D419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AD13E86A-01DD-4D1C-F17A-72C487D4D00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D59818C7-9C6A-EA8E-46AE-B2656A0E2403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E61EC3FB-0A86-6AF9-D0E6-260F018E829D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BE659EC9-D4EA-8FDC-61C4-9164AE52B4C8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117F36B0-B0E5-4FF3-4759-51431C931B33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806B059C-34E9-98F8-A1EA-D38439674655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8CED620B-7BC5-8717-16A7-AF9199FCD0DE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556DD675-578D-0175-9074-E41898146163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904383E-3F05-1EAC-2EE4-9FEB5F199D7F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697BB955-C524-F7FE-5E4F-2205CD680F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A75D9C4C-AFD2-B17A-993D-04F0AB7257D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44508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287AF717-69F9-04ED-22E4-E499DF5F07E2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0"/>
          </a:blip>
          <a:stretch>
            <a:fillRect/>
          </a:stretch>
        </p:blipFill>
        <p:spPr>
          <a:xfrm>
            <a:off x="2042212" y="379183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9C9C61E3-4122-B1A8-4108-DB87A447B8B5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F94B849-36EE-9352-752B-5CC61B98258C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138DCB91-2E9E-00DB-33FB-5F7B78EA6CA5}"/>
              </a:ext>
            </a:extLst>
          </p:cNvPr>
          <p:cNvSpPr txBox="1"/>
          <p:nvPr/>
        </p:nvSpPr>
        <p:spPr>
          <a:xfrm>
            <a:off x="2123880" y="3131459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D024A307-DEF4-AAC4-F856-221E4697BB92}"/>
              </a:ext>
            </a:extLst>
          </p:cNvPr>
          <p:cNvSpPr txBox="1"/>
          <p:nvPr/>
        </p:nvSpPr>
        <p:spPr>
          <a:xfrm>
            <a:off x="3297136" y="3067707"/>
            <a:ext cx="1360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</a:t>
            </a:r>
            <a:r>
              <a:rPr lang="it-IT" sz="20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 </a:t>
            </a:r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B</a:t>
            </a:r>
            <a:endParaRPr lang="it-IT" sz="2000" b="1" dirty="0">
              <a:solidFill>
                <a:srgbClr val="523624"/>
              </a:solidFill>
              <a:latin typeface="SF Pro Display Black" pitchFamily="2" charset="0"/>
              <a:ea typeface="SF Pro Display Black" pitchFamily="2" charset="0"/>
              <a:cs typeface="SF Pro Display Black" pitchFamily="2" charset="0"/>
            </a:endParaRPr>
          </a:p>
        </p:txBody>
      </p:sp>
      <p:pic>
        <p:nvPicPr>
          <p:cNvPr id="83" name="Elemento grafico 82" descr="Ospedale con riempimento a tinta unita">
            <a:extLst>
              <a:ext uri="{FF2B5EF4-FFF2-40B4-BE49-F238E27FC236}">
                <a16:creationId xmlns:a16="http://schemas.microsoft.com/office/drawing/2014/main" id="{5A6BE1F2-CCE7-D2EA-BF47-BBF6B461154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88262" y="2462757"/>
            <a:ext cx="779514" cy="779514"/>
          </a:xfrm>
          <a:prstGeom prst="rect">
            <a:avLst/>
          </a:prstGeom>
        </p:spPr>
      </p:pic>
      <p:pic>
        <p:nvPicPr>
          <p:cNvPr id="84" name="Elemento grafico 83" descr="Ospedale con riempimento a tinta unita">
            <a:extLst>
              <a:ext uri="{FF2B5EF4-FFF2-40B4-BE49-F238E27FC236}">
                <a16:creationId xmlns:a16="http://schemas.microsoft.com/office/drawing/2014/main" id="{35DCF1E1-1880-9FE2-0E5B-97FB0A67538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409270" y="2471036"/>
            <a:ext cx="789786" cy="789786"/>
          </a:xfrm>
          <a:prstGeom prst="rect">
            <a:avLst/>
          </a:prstGeom>
        </p:spPr>
      </p:pic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E81BBC9-A1E1-9AAA-6C9C-F1CCD7B37E7D}"/>
              </a:ext>
            </a:extLst>
          </p:cNvPr>
          <p:cNvSpPr/>
          <p:nvPr/>
        </p:nvSpPr>
        <p:spPr>
          <a:xfrm>
            <a:off x="3486150" y="5218872"/>
            <a:ext cx="161973" cy="261178"/>
          </a:xfrm>
          <a:custGeom>
            <a:avLst/>
            <a:gdLst>
              <a:gd name="csX0" fmla="*/ 38100 w 161973"/>
              <a:gd name="csY0" fmla="*/ 4003 h 261178"/>
              <a:gd name="csX1" fmla="*/ 101600 w 161973"/>
              <a:gd name="csY1" fmla="*/ 4003 h 261178"/>
              <a:gd name="csX2" fmla="*/ 104775 w 161973"/>
              <a:gd name="csY2" fmla="*/ 13528 h 261178"/>
              <a:gd name="csX3" fmla="*/ 101600 w 161973"/>
              <a:gd name="csY3" fmla="*/ 29403 h 261178"/>
              <a:gd name="csX4" fmla="*/ 111125 w 161973"/>
              <a:gd name="csY4" fmla="*/ 26228 h 261178"/>
              <a:gd name="csX5" fmla="*/ 146050 w 161973"/>
              <a:gd name="csY5" fmla="*/ 29403 h 261178"/>
              <a:gd name="csX6" fmla="*/ 155575 w 161973"/>
              <a:gd name="csY6" fmla="*/ 32578 h 261178"/>
              <a:gd name="csX7" fmla="*/ 161925 w 161973"/>
              <a:gd name="csY7" fmla="*/ 42103 h 261178"/>
              <a:gd name="csX8" fmla="*/ 152400 w 161973"/>
              <a:gd name="csY8" fmla="*/ 61153 h 261178"/>
              <a:gd name="csX9" fmla="*/ 142875 w 161973"/>
              <a:gd name="csY9" fmla="*/ 67503 h 261178"/>
              <a:gd name="csX10" fmla="*/ 136525 w 161973"/>
              <a:gd name="csY10" fmla="*/ 86553 h 261178"/>
              <a:gd name="csX11" fmla="*/ 133350 w 161973"/>
              <a:gd name="csY11" fmla="*/ 96078 h 261178"/>
              <a:gd name="csX12" fmla="*/ 117475 w 161973"/>
              <a:gd name="csY12" fmla="*/ 118303 h 261178"/>
              <a:gd name="csX13" fmla="*/ 114300 w 161973"/>
              <a:gd name="csY13" fmla="*/ 127828 h 261178"/>
              <a:gd name="csX14" fmla="*/ 98425 w 161973"/>
              <a:gd name="csY14" fmla="*/ 156403 h 261178"/>
              <a:gd name="csX15" fmla="*/ 101600 w 161973"/>
              <a:gd name="csY15" fmla="*/ 194503 h 261178"/>
              <a:gd name="csX16" fmla="*/ 107950 w 161973"/>
              <a:gd name="csY16" fmla="*/ 213553 h 261178"/>
              <a:gd name="csX17" fmla="*/ 101600 w 161973"/>
              <a:gd name="csY17" fmla="*/ 248478 h 261178"/>
              <a:gd name="csX18" fmla="*/ 95250 w 161973"/>
              <a:gd name="csY18" fmla="*/ 258003 h 261178"/>
              <a:gd name="csX19" fmla="*/ 85725 w 161973"/>
              <a:gd name="csY19" fmla="*/ 261178 h 261178"/>
              <a:gd name="csX20" fmla="*/ 57150 w 161973"/>
              <a:gd name="csY20" fmla="*/ 245303 h 261178"/>
              <a:gd name="csX21" fmla="*/ 47625 w 161973"/>
              <a:gd name="csY21" fmla="*/ 238953 h 261178"/>
              <a:gd name="csX22" fmla="*/ 34925 w 161973"/>
              <a:gd name="csY22" fmla="*/ 219903 h 261178"/>
              <a:gd name="csX23" fmla="*/ 28575 w 161973"/>
              <a:gd name="csY23" fmla="*/ 210378 h 261178"/>
              <a:gd name="csX24" fmla="*/ 12700 w 161973"/>
              <a:gd name="csY24" fmla="*/ 191328 h 261178"/>
              <a:gd name="csX25" fmla="*/ 9525 w 161973"/>
              <a:gd name="csY25" fmla="*/ 181803 h 261178"/>
              <a:gd name="csX26" fmla="*/ 0 w 161973"/>
              <a:gd name="csY26" fmla="*/ 162753 h 261178"/>
              <a:gd name="csX27" fmla="*/ 3175 w 161973"/>
              <a:gd name="csY27" fmla="*/ 111953 h 261178"/>
              <a:gd name="csX28" fmla="*/ 15875 w 161973"/>
              <a:gd name="csY28" fmla="*/ 83378 h 261178"/>
              <a:gd name="csX29" fmla="*/ 19050 w 161973"/>
              <a:gd name="csY29" fmla="*/ 73853 h 261178"/>
              <a:gd name="csX30" fmla="*/ 22225 w 161973"/>
              <a:gd name="csY30" fmla="*/ 51628 h 261178"/>
              <a:gd name="csX31" fmla="*/ 25400 w 161973"/>
              <a:gd name="csY31" fmla="*/ 7178 h 261178"/>
              <a:gd name="csX32" fmla="*/ 38100 w 161973"/>
              <a:gd name="csY32" fmla="*/ 4003 h 26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61973" h="261178">
                <a:moveTo>
                  <a:pt x="38100" y="4003"/>
                </a:moveTo>
                <a:cubicBezTo>
                  <a:pt x="50800" y="3474"/>
                  <a:pt x="79161" y="-2901"/>
                  <a:pt x="101600" y="4003"/>
                </a:cubicBezTo>
                <a:cubicBezTo>
                  <a:pt x="104799" y="4987"/>
                  <a:pt x="103717" y="10353"/>
                  <a:pt x="104775" y="13528"/>
                </a:cubicBezTo>
                <a:cubicBezTo>
                  <a:pt x="103717" y="18820"/>
                  <a:pt x="99187" y="24576"/>
                  <a:pt x="101600" y="29403"/>
                </a:cubicBezTo>
                <a:cubicBezTo>
                  <a:pt x="103097" y="32396"/>
                  <a:pt x="107778" y="26228"/>
                  <a:pt x="111125" y="26228"/>
                </a:cubicBezTo>
                <a:cubicBezTo>
                  <a:pt x="122815" y="26228"/>
                  <a:pt x="134408" y="28345"/>
                  <a:pt x="146050" y="29403"/>
                </a:cubicBezTo>
                <a:cubicBezTo>
                  <a:pt x="149225" y="30461"/>
                  <a:pt x="152962" y="30487"/>
                  <a:pt x="155575" y="32578"/>
                </a:cubicBezTo>
                <a:cubicBezTo>
                  <a:pt x="158555" y="34962"/>
                  <a:pt x="161298" y="38339"/>
                  <a:pt x="161925" y="42103"/>
                </a:cubicBezTo>
                <a:cubicBezTo>
                  <a:pt x="162663" y="46530"/>
                  <a:pt x="154769" y="58784"/>
                  <a:pt x="152400" y="61153"/>
                </a:cubicBezTo>
                <a:cubicBezTo>
                  <a:pt x="149702" y="63851"/>
                  <a:pt x="146050" y="65386"/>
                  <a:pt x="142875" y="67503"/>
                </a:cubicBezTo>
                <a:lnTo>
                  <a:pt x="136525" y="86553"/>
                </a:lnTo>
                <a:cubicBezTo>
                  <a:pt x="135467" y="89728"/>
                  <a:pt x="135358" y="93401"/>
                  <a:pt x="133350" y="96078"/>
                </a:cubicBezTo>
                <a:cubicBezTo>
                  <a:pt x="131193" y="98954"/>
                  <a:pt x="119796" y="113660"/>
                  <a:pt x="117475" y="118303"/>
                </a:cubicBezTo>
                <a:cubicBezTo>
                  <a:pt x="115978" y="121296"/>
                  <a:pt x="115925" y="124902"/>
                  <a:pt x="114300" y="127828"/>
                </a:cubicBezTo>
                <a:cubicBezTo>
                  <a:pt x="96104" y="160580"/>
                  <a:pt x="105609" y="134850"/>
                  <a:pt x="98425" y="156403"/>
                </a:cubicBezTo>
                <a:cubicBezTo>
                  <a:pt x="99483" y="169103"/>
                  <a:pt x="99505" y="181932"/>
                  <a:pt x="101600" y="194503"/>
                </a:cubicBezTo>
                <a:cubicBezTo>
                  <a:pt x="102700" y="201105"/>
                  <a:pt x="107950" y="213553"/>
                  <a:pt x="107950" y="213553"/>
                </a:cubicBezTo>
                <a:cubicBezTo>
                  <a:pt x="106856" y="222309"/>
                  <a:pt x="106494" y="238689"/>
                  <a:pt x="101600" y="248478"/>
                </a:cubicBezTo>
                <a:cubicBezTo>
                  <a:pt x="99893" y="251891"/>
                  <a:pt x="98230" y="255619"/>
                  <a:pt x="95250" y="258003"/>
                </a:cubicBezTo>
                <a:cubicBezTo>
                  <a:pt x="92637" y="260094"/>
                  <a:pt x="88900" y="260120"/>
                  <a:pt x="85725" y="261178"/>
                </a:cubicBezTo>
                <a:cubicBezTo>
                  <a:pt x="68960" y="255590"/>
                  <a:pt x="78985" y="259859"/>
                  <a:pt x="57150" y="245303"/>
                </a:cubicBezTo>
                <a:lnTo>
                  <a:pt x="47625" y="238953"/>
                </a:lnTo>
                <a:lnTo>
                  <a:pt x="34925" y="219903"/>
                </a:lnTo>
                <a:cubicBezTo>
                  <a:pt x="32808" y="216728"/>
                  <a:pt x="31273" y="213076"/>
                  <a:pt x="28575" y="210378"/>
                </a:cubicBezTo>
                <a:cubicBezTo>
                  <a:pt x="21553" y="203356"/>
                  <a:pt x="17120" y="200169"/>
                  <a:pt x="12700" y="191328"/>
                </a:cubicBezTo>
                <a:cubicBezTo>
                  <a:pt x="11203" y="188335"/>
                  <a:pt x="11022" y="184796"/>
                  <a:pt x="9525" y="181803"/>
                </a:cubicBezTo>
                <a:cubicBezTo>
                  <a:pt x="-2785" y="157184"/>
                  <a:pt x="7980" y="186694"/>
                  <a:pt x="0" y="162753"/>
                </a:cubicBezTo>
                <a:cubicBezTo>
                  <a:pt x="1058" y="145820"/>
                  <a:pt x="883" y="128764"/>
                  <a:pt x="3175" y="111953"/>
                </a:cubicBezTo>
                <a:cubicBezTo>
                  <a:pt x="6247" y="89427"/>
                  <a:pt x="8369" y="98390"/>
                  <a:pt x="15875" y="83378"/>
                </a:cubicBezTo>
                <a:cubicBezTo>
                  <a:pt x="17372" y="80385"/>
                  <a:pt x="17992" y="77028"/>
                  <a:pt x="19050" y="73853"/>
                </a:cubicBezTo>
                <a:cubicBezTo>
                  <a:pt x="20108" y="66445"/>
                  <a:pt x="21515" y="59078"/>
                  <a:pt x="22225" y="51628"/>
                </a:cubicBezTo>
                <a:cubicBezTo>
                  <a:pt x="23633" y="36840"/>
                  <a:pt x="21797" y="21589"/>
                  <a:pt x="25400" y="7178"/>
                </a:cubicBezTo>
                <a:cubicBezTo>
                  <a:pt x="28990" y="-7182"/>
                  <a:pt x="25400" y="4532"/>
                  <a:pt x="38100" y="400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EAF2E48-5C75-F399-6994-33CE381B7096}"/>
              </a:ext>
            </a:extLst>
          </p:cNvPr>
          <p:cNvSpPr txBox="1"/>
          <p:nvPr/>
        </p:nvSpPr>
        <p:spPr>
          <a:xfrm>
            <a:off x="2027033" y="3777560"/>
            <a:ext cx="275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 (</a:t>
            </a:r>
            <a:r>
              <a:rPr lang="it-IT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Region</a:t>
            </a:r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of </a:t>
            </a:r>
            <a:r>
              <a:rPr lang="it-IT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Interest</a:t>
            </a:r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9DC18DA4-0156-72D0-F6D5-E42BB0982E8C}"/>
              </a:ext>
            </a:extLst>
          </p:cNvPr>
          <p:cNvSpPr txBox="1"/>
          <p:nvPr/>
        </p:nvSpPr>
        <p:spPr>
          <a:xfrm>
            <a:off x="6348101" y="4515711"/>
            <a:ext cx="41521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66422B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REFERENCE STANDARD</a:t>
            </a:r>
          </a:p>
          <a:p>
            <a:pPr algn="ctr"/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Diverticular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disease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(Class 0)</a:t>
            </a:r>
          </a:p>
          <a:p>
            <a:pPr algn="ctr"/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Colorectal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cancer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(Class 1)</a:t>
            </a:r>
          </a:p>
        </p:txBody>
      </p:sp>
    </p:spTree>
    <p:extLst>
      <p:ext uri="{BB962C8B-B14F-4D97-AF65-F5344CB8AC3E}">
        <p14:creationId xmlns:p14="http://schemas.microsoft.com/office/powerpoint/2010/main" val="24630245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F70C4-C84C-5C17-CEEB-B7D8900E0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0F6992B5-BBE7-5C5E-F8CE-9EE32FCCBA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48D9F01-B04D-10F2-E7DE-186F4B2FA6CE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4DEBCA4A-B2A0-636A-38EA-23C9838A7C87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F8A1C79D-A6E7-DF1A-F850-15AD02A48BC6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C7083160-69D9-CE7C-DCC6-FE9388DC263C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50968845-23E8-EDEC-2374-33F9D33147CE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2747D50E-7714-D416-3B8C-F126F5F144EF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811FAD87-5DB9-738D-3AFF-6B00F6027E09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7362856A-8A57-9AA9-90B3-71A782AF5994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2AD65C05-F8AD-8F7C-FBCF-F0439F9B2D03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1B9F5689-FF88-A28B-378E-42EDADA791E5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28C96CD3-1025-55A1-3E78-4AF627724538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03940EA8-3B70-DD65-3913-722C10709CCF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23E4AF2-3842-2FDB-19A8-F9093D97FAD5}"/>
              </a:ext>
            </a:extLst>
          </p:cNvPr>
          <p:cNvSpPr txBox="1"/>
          <p:nvPr/>
        </p:nvSpPr>
        <p:spPr>
          <a:xfrm>
            <a:off x="264617" y="297437"/>
            <a:ext cx="6143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1.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Patient</a:t>
            </a: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 </a:t>
            </a:r>
            <a:r>
              <a:rPr lang="it-IT" sz="4000" dirty="0" err="1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selection</a:t>
            </a:r>
            <a:endParaRPr lang="it-IT" sz="4000" dirty="0">
              <a:solidFill>
                <a:srgbClr val="523624"/>
              </a:solidFill>
              <a:latin typeface="Hiragino Kaku Gothic StdN W8" panose="020B0800000000000000" pitchFamily="34" charset="-128"/>
              <a:ea typeface="Hiragino Kaku Gothic StdN W8" panose="020B0800000000000000" pitchFamily="34" charset="-128"/>
              <a:cs typeface="SF Pro Display" pitchFamily="2" charset="0"/>
            </a:endParaRP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9C5636B0-38F6-65E8-22F4-98E70C947A4F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6C2013A3-1FF3-7731-6CA1-FDF44FFA1663}"/>
              </a:ext>
            </a:extLst>
          </p:cNvPr>
          <p:cNvSpPr/>
          <p:nvPr/>
        </p:nvSpPr>
        <p:spPr>
          <a:xfrm>
            <a:off x="6905529" y="1381799"/>
            <a:ext cx="493295" cy="493295"/>
          </a:xfrm>
          <a:prstGeom prst="ellipse">
            <a:avLst/>
          </a:prstGeom>
          <a:solidFill>
            <a:srgbClr val="E9B18E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0D46DDA2-EC1B-6396-BF4B-FC017EF6E4CC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A9FD652-6E2F-75E9-C6D7-C28070F6BB83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3447F923-8120-ADC3-D836-888FE9D3A115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D27C3D09-44BD-5C49-3F39-2D21ABFDD98A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308DA384-F3C9-36B2-B1EF-4C3A1CE9AD8B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E02C5AB2-9F7E-9196-CFFE-BC18A98F94A5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54749629-BCB8-3741-0619-82927D2FEF19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372AE698-35F6-F359-055E-ED36B7AEC98F}"/>
              </a:ext>
            </a:extLst>
          </p:cNvPr>
          <p:cNvSpPr/>
          <p:nvPr/>
        </p:nvSpPr>
        <p:spPr>
          <a:xfrm>
            <a:off x="7177285" y="133988"/>
            <a:ext cx="687354" cy="687354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584C0F39-2377-5AC9-3D06-0194B9C196AC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4DAB305A-51E8-0DCD-2A4E-D62D8E849E43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F0FC3BEF-85B8-7EF5-6957-4DCF0BA5A978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006694F2-68B2-0917-5E51-6AB3BA3D3700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1795C1E6-FDC7-526D-9FEA-573B4AF14ADE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AC730FEC-43B3-3ACA-6A4A-76DC1F88E822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70ADCFBC-8274-AE9B-21BF-627BB552A2A0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EFF351D5-A1F5-25BC-EC41-3FA13F179579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28B49382-7A02-BFC5-FBF8-34AAE599E366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4831B8B8-F9E8-49F6-2AB8-391AF8B98DB0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863C964D-291C-D694-D7BC-3A144BCBF155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F13BD548-9917-4CEC-1A6F-BD7D177191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94CB5B7E-47C5-EF4B-D63D-E7E97EFC9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84911C37-9D15-1CD8-6290-B718C22E74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CEC3632D-3464-749B-72E7-1BAE3F4B206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CF940EFF-8487-3997-98A6-89501AF0FF0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811C5698-713E-AC5B-E5A9-59EC2210DE42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AC1DCB6D-C386-001E-2EEB-A04609E77604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6BEDD3E3-D789-C95D-C592-762240463041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5C2C0E92-5FA5-1178-783B-CECB3C0250B6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2924D300-6667-3421-C0DF-A7C2334044AF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1B5E1263-91DD-D2E9-DCF8-F3E844FDB2FE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2F2BF7FC-510F-0317-9891-E8DA64549150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E033125-7D86-C35D-29CF-F9E6D02E82DE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4A595407-0C49-A6B5-4B1A-0DA2B74B3C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93178" y="256272"/>
            <a:ext cx="454543" cy="454543"/>
          </a:xfrm>
          <a:prstGeom prst="rect">
            <a:avLst/>
          </a:prstGeom>
        </p:spPr>
      </p:pic>
      <p:pic>
        <p:nvPicPr>
          <p:cNvPr id="58" name="Immagine 57" descr="Immagine che contiene arte, bianco e nero&#10;&#10;Il contenuto generato dall'IA potrebbe non essere corretto.">
            <a:extLst>
              <a:ext uri="{FF2B5EF4-FFF2-40B4-BE49-F238E27FC236}">
                <a16:creationId xmlns:a16="http://schemas.microsoft.com/office/drawing/2014/main" id="{8206A68F-53B5-AE1C-AA98-C235A0D9C0C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78118" y="3776368"/>
            <a:ext cx="2750773" cy="2750773"/>
          </a:xfrm>
          <a:prstGeom prst="roundRect">
            <a:avLst>
              <a:gd name="adj" fmla="val 4125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6" name="Immagine 65" descr="Immagine che contiene nero, oscurità, bianco e nero, monocromatico&#10;&#10;Il contenuto generato dall'IA potrebbe non essere corretto.">
            <a:extLst>
              <a:ext uri="{FF2B5EF4-FFF2-40B4-BE49-F238E27FC236}">
                <a16:creationId xmlns:a16="http://schemas.microsoft.com/office/drawing/2014/main" id="{91DDE477-B96C-D225-B856-7D45E06D92C0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0"/>
          </a:blip>
          <a:stretch>
            <a:fillRect/>
          </a:stretch>
        </p:blipFill>
        <p:spPr>
          <a:xfrm>
            <a:off x="5575822" y="3791836"/>
            <a:ext cx="2750773" cy="2759045"/>
          </a:xfrm>
          <a:prstGeom prst="roundRect">
            <a:avLst>
              <a:gd name="adj" fmla="val 36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72F302F1-0902-10DE-B989-FC990250D03B}"/>
              </a:ext>
            </a:extLst>
          </p:cNvPr>
          <p:cNvSpPr txBox="1"/>
          <p:nvPr/>
        </p:nvSpPr>
        <p:spPr>
          <a:xfrm>
            <a:off x="1341513" y="1413429"/>
            <a:ext cx="41521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CT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Colonography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(CTC) 3D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volumes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&amp;</a:t>
            </a:r>
            <a:b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</a:b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148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CDCA8FC-44DD-28FA-9705-E31055588A41}"/>
              </a:ext>
            </a:extLst>
          </p:cNvPr>
          <p:cNvSpPr txBox="1"/>
          <p:nvPr/>
        </p:nvSpPr>
        <p:spPr>
          <a:xfrm>
            <a:off x="2755367" y="1111616"/>
            <a:ext cx="1416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66422B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DATASET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EA6DF37F-2E28-5D4B-A818-1BE177607049}"/>
              </a:ext>
            </a:extLst>
          </p:cNvPr>
          <p:cNvSpPr txBox="1"/>
          <p:nvPr/>
        </p:nvSpPr>
        <p:spPr>
          <a:xfrm>
            <a:off x="2758324" y="4039161"/>
            <a:ext cx="13605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b="1" dirty="0">
                <a:solidFill>
                  <a:srgbClr val="523624"/>
                </a:solidFill>
                <a:latin typeface="SF Pro Display Black" pitchFamily="2" charset="0"/>
                <a:ea typeface="SF Pro Display Black" pitchFamily="2" charset="0"/>
                <a:cs typeface="SF Pro Display Black" pitchFamily="2" charset="0"/>
              </a:rPr>
              <a:t>Center A</a:t>
            </a:r>
          </a:p>
        </p:txBody>
      </p:sp>
      <p:pic>
        <p:nvPicPr>
          <p:cNvPr id="84" name="Elemento grafico 83" descr="Ospedale con riempimento a tinta unita">
            <a:extLst>
              <a:ext uri="{FF2B5EF4-FFF2-40B4-BE49-F238E27FC236}">
                <a16:creationId xmlns:a16="http://schemas.microsoft.com/office/drawing/2014/main" id="{05A3ACDE-828B-8F65-014E-CE32BB389CB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886650" y="3092525"/>
            <a:ext cx="1103912" cy="1103912"/>
          </a:xfrm>
          <a:prstGeom prst="rect">
            <a:avLst/>
          </a:prstGeom>
        </p:spPr>
      </p:pic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A3030C99-86C6-0B87-0F0E-E8017BBA3432}"/>
              </a:ext>
            </a:extLst>
          </p:cNvPr>
          <p:cNvSpPr/>
          <p:nvPr/>
        </p:nvSpPr>
        <p:spPr>
          <a:xfrm>
            <a:off x="7019760" y="5218872"/>
            <a:ext cx="161973" cy="261178"/>
          </a:xfrm>
          <a:custGeom>
            <a:avLst/>
            <a:gdLst>
              <a:gd name="csX0" fmla="*/ 38100 w 161973"/>
              <a:gd name="csY0" fmla="*/ 4003 h 261178"/>
              <a:gd name="csX1" fmla="*/ 101600 w 161973"/>
              <a:gd name="csY1" fmla="*/ 4003 h 261178"/>
              <a:gd name="csX2" fmla="*/ 104775 w 161973"/>
              <a:gd name="csY2" fmla="*/ 13528 h 261178"/>
              <a:gd name="csX3" fmla="*/ 101600 w 161973"/>
              <a:gd name="csY3" fmla="*/ 29403 h 261178"/>
              <a:gd name="csX4" fmla="*/ 111125 w 161973"/>
              <a:gd name="csY4" fmla="*/ 26228 h 261178"/>
              <a:gd name="csX5" fmla="*/ 146050 w 161973"/>
              <a:gd name="csY5" fmla="*/ 29403 h 261178"/>
              <a:gd name="csX6" fmla="*/ 155575 w 161973"/>
              <a:gd name="csY6" fmla="*/ 32578 h 261178"/>
              <a:gd name="csX7" fmla="*/ 161925 w 161973"/>
              <a:gd name="csY7" fmla="*/ 42103 h 261178"/>
              <a:gd name="csX8" fmla="*/ 152400 w 161973"/>
              <a:gd name="csY8" fmla="*/ 61153 h 261178"/>
              <a:gd name="csX9" fmla="*/ 142875 w 161973"/>
              <a:gd name="csY9" fmla="*/ 67503 h 261178"/>
              <a:gd name="csX10" fmla="*/ 136525 w 161973"/>
              <a:gd name="csY10" fmla="*/ 86553 h 261178"/>
              <a:gd name="csX11" fmla="*/ 133350 w 161973"/>
              <a:gd name="csY11" fmla="*/ 96078 h 261178"/>
              <a:gd name="csX12" fmla="*/ 117475 w 161973"/>
              <a:gd name="csY12" fmla="*/ 118303 h 261178"/>
              <a:gd name="csX13" fmla="*/ 114300 w 161973"/>
              <a:gd name="csY13" fmla="*/ 127828 h 261178"/>
              <a:gd name="csX14" fmla="*/ 98425 w 161973"/>
              <a:gd name="csY14" fmla="*/ 156403 h 261178"/>
              <a:gd name="csX15" fmla="*/ 101600 w 161973"/>
              <a:gd name="csY15" fmla="*/ 194503 h 261178"/>
              <a:gd name="csX16" fmla="*/ 107950 w 161973"/>
              <a:gd name="csY16" fmla="*/ 213553 h 261178"/>
              <a:gd name="csX17" fmla="*/ 101600 w 161973"/>
              <a:gd name="csY17" fmla="*/ 248478 h 261178"/>
              <a:gd name="csX18" fmla="*/ 95250 w 161973"/>
              <a:gd name="csY18" fmla="*/ 258003 h 261178"/>
              <a:gd name="csX19" fmla="*/ 85725 w 161973"/>
              <a:gd name="csY19" fmla="*/ 261178 h 261178"/>
              <a:gd name="csX20" fmla="*/ 57150 w 161973"/>
              <a:gd name="csY20" fmla="*/ 245303 h 261178"/>
              <a:gd name="csX21" fmla="*/ 47625 w 161973"/>
              <a:gd name="csY21" fmla="*/ 238953 h 261178"/>
              <a:gd name="csX22" fmla="*/ 34925 w 161973"/>
              <a:gd name="csY22" fmla="*/ 219903 h 261178"/>
              <a:gd name="csX23" fmla="*/ 28575 w 161973"/>
              <a:gd name="csY23" fmla="*/ 210378 h 261178"/>
              <a:gd name="csX24" fmla="*/ 12700 w 161973"/>
              <a:gd name="csY24" fmla="*/ 191328 h 261178"/>
              <a:gd name="csX25" fmla="*/ 9525 w 161973"/>
              <a:gd name="csY25" fmla="*/ 181803 h 261178"/>
              <a:gd name="csX26" fmla="*/ 0 w 161973"/>
              <a:gd name="csY26" fmla="*/ 162753 h 261178"/>
              <a:gd name="csX27" fmla="*/ 3175 w 161973"/>
              <a:gd name="csY27" fmla="*/ 111953 h 261178"/>
              <a:gd name="csX28" fmla="*/ 15875 w 161973"/>
              <a:gd name="csY28" fmla="*/ 83378 h 261178"/>
              <a:gd name="csX29" fmla="*/ 19050 w 161973"/>
              <a:gd name="csY29" fmla="*/ 73853 h 261178"/>
              <a:gd name="csX30" fmla="*/ 22225 w 161973"/>
              <a:gd name="csY30" fmla="*/ 51628 h 261178"/>
              <a:gd name="csX31" fmla="*/ 25400 w 161973"/>
              <a:gd name="csY31" fmla="*/ 7178 h 261178"/>
              <a:gd name="csX32" fmla="*/ 38100 w 161973"/>
              <a:gd name="csY32" fmla="*/ 4003 h 2611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61973" h="261178">
                <a:moveTo>
                  <a:pt x="38100" y="4003"/>
                </a:moveTo>
                <a:cubicBezTo>
                  <a:pt x="50800" y="3474"/>
                  <a:pt x="79161" y="-2901"/>
                  <a:pt x="101600" y="4003"/>
                </a:cubicBezTo>
                <a:cubicBezTo>
                  <a:pt x="104799" y="4987"/>
                  <a:pt x="103717" y="10353"/>
                  <a:pt x="104775" y="13528"/>
                </a:cubicBezTo>
                <a:cubicBezTo>
                  <a:pt x="103717" y="18820"/>
                  <a:pt x="99187" y="24576"/>
                  <a:pt x="101600" y="29403"/>
                </a:cubicBezTo>
                <a:cubicBezTo>
                  <a:pt x="103097" y="32396"/>
                  <a:pt x="107778" y="26228"/>
                  <a:pt x="111125" y="26228"/>
                </a:cubicBezTo>
                <a:cubicBezTo>
                  <a:pt x="122815" y="26228"/>
                  <a:pt x="134408" y="28345"/>
                  <a:pt x="146050" y="29403"/>
                </a:cubicBezTo>
                <a:cubicBezTo>
                  <a:pt x="149225" y="30461"/>
                  <a:pt x="152962" y="30487"/>
                  <a:pt x="155575" y="32578"/>
                </a:cubicBezTo>
                <a:cubicBezTo>
                  <a:pt x="158555" y="34962"/>
                  <a:pt x="161298" y="38339"/>
                  <a:pt x="161925" y="42103"/>
                </a:cubicBezTo>
                <a:cubicBezTo>
                  <a:pt x="162663" y="46530"/>
                  <a:pt x="154769" y="58784"/>
                  <a:pt x="152400" y="61153"/>
                </a:cubicBezTo>
                <a:cubicBezTo>
                  <a:pt x="149702" y="63851"/>
                  <a:pt x="146050" y="65386"/>
                  <a:pt x="142875" y="67503"/>
                </a:cubicBezTo>
                <a:lnTo>
                  <a:pt x="136525" y="86553"/>
                </a:lnTo>
                <a:cubicBezTo>
                  <a:pt x="135467" y="89728"/>
                  <a:pt x="135358" y="93401"/>
                  <a:pt x="133350" y="96078"/>
                </a:cubicBezTo>
                <a:cubicBezTo>
                  <a:pt x="131193" y="98954"/>
                  <a:pt x="119796" y="113660"/>
                  <a:pt x="117475" y="118303"/>
                </a:cubicBezTo>
                <a:cubicBezTo>
                  <a:pt x="115978" y="121296"/>
                  <a:pt x="115925" y="124902"/>
                  <a:pt x="114300" y="127828"/>
                </a:cubicBezTo>
                <a:cubicBezTo>
                  <a:pt x="96104" y="160580"/>
                  <a:pt x="105609" y="134850"/>
                  <a:pt x="98425" y="156403"/>
                </a:cubicBezTo>
                <a:cubicBezTo>
                  <a:pt x="99483" y="169103"/>
                  <a:pt x="99505" y="181932"/>
                  <a:pt x="101600" y="194503"/>
                </a:cubicBezTo>
                <a:cubicBezTo>
                  <a:pt x="102700" y="201105"/>
                  <a:pt x="107950" y="213553"/>
                  <a:pt x="107950" y="213553"/>
                </a:cubicBezTo>
                <a:cubicBezTo>
                  <a:pt x="106856" y="222309"/>
                  <a:pt x="106494" y="238689"/>
                  <a:pt x="101600" y="248478"/>
                </a:cubicBezTo>
                <a:cubicBezTo>
                  <a:pt x="99893" y="251891"/>
                  <a:pt x="98230" y="255619"/>
                  <a:pt x="95250" y="258003"/>
                </a:cubicBezTo>
                <a:cubicBezTo>
                  <a:pt x="92637" y="260094"/>
                  <a:pt x="88900" y="260120"/>
                  <a:pt x="85725" y="261178"/>
                </a:cubicBezTo>
                <a:cubicBezTo>
                  <a:pt x="68960" y="255590"/>
                  <a:pt x="78985" y="259859"/>
                  <a:pt x="57150" y="245303"/>
                </a:cubicBezTo>
                <a:lnTo>
                  <a:pt x="47625" y="238953"/>
                </a:lnTo>
                <a:lnTo>
                  <a:pt x="34925" y="219903"/>
                </a:lnTo>
                <a:cubicBezTo>
                  <a:pt x="32808" y="216728"/>
                  <a:pt x="31273" y="213076"/>
                  <a:pt x="28575" y="210378"/>
                </a:cubicBezTo>
                <a:cubicBezTo>
                  <a:pt x="21553" y="203356"/>
                  <a:pt x="17120" y="200169"/>
                  <a:pt x="12700" y="191328"/>
                </a:cubicBezTo>
                <a:cubicBezTo>
                  <a:pt x="11203" y="188335"/>
                  <a:pt x="11022" y="184796"/>
                  <a:pt x="9525" y="181803"/>
                </a:cubicBezTo>
                <a:cubicBezTo>
                  <a:pt x="-2785" y="157184"/>
                  <a:pt x="7980" y="186694"/>
                  <a:pt x="0" y="162753"/>
                </a:cubicBezTo>
                <a:cubicBezTo>
                  <a:pt x="1058" y="145820"/>
                  <a:pt x="883" y="128764"/>
                  <a:pt x="3175" y="111953"/>
                </a:cubicBezTo>
                <a:cubicBezTo>
                  <a:pt x="6247" y="89427"/>
                  <a:pt x="8369" y="98390"/>
                  <a:pt x="15875" y="83378"/>
                </a:cubicBezTo>
                <a:cubicBezTo>
                  <a:pt x="17372" y="80385"/>
                  <a:pt x="17992" y="77028"/>
                  <a:pt x="19050" y="73853"/>
                </a:cubicBezTo>
                <a:cubicBezTo>
                  <a:pt x="20108" y="66445"/>
                  <a:pt x="21515" y="59078"/>
                  <a:pt x="22225" y="51628"/>
                </a:cubicBezTo>
                <a:cubicBezTo>
                  <a:pt x="23633" y="36840"/>
                  <a:pt x="21797" y="21589"/>
                  <a:pt x="25400" y="7178"/>
                </a:cubicBezTo>
                <a:cubicBezTo>
                  <a:pt x="28990" y="-7182"/>
                  <a:pt x="25400" y="4532"/>
                  <a:pt x="38100" y="4003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B7851012-5A98-A81B-504F-4315225C4AC4}"/>
              </a:ext>
            </a:extLst>
          </p:cNvPr>
          <p:cNvSpPr txBox="1"/>
          <p:nvPr/>
        </p:nvSpPr>
        <p:spPr>
          <a:xfrm>
            <a:off x="5560643" y="3777560"/>
            <a:ext cx="275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 (</a:t>
            </a:r>
            <a:r>
              <a:rPr lang="it-IT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Region</a:t>
            </a:r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of </a:t>
            </a:r>
            <a:r>
              <a:rPr lang="it-IT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Interest</a:t>
            </a:r>
            <a:r>
              <a:rPr lang="it-IT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3B07268-F885-9577-F856-9501F6A2DAA5}"/>
              </a:ext>
            </a:extLst>
          </p:cNvPr>
          <p:cNvSpPr txBox="1"/>
          <p:nvPr/>
        </p:nvSpPr>
        <p:spPr>
          <a:xfrm>
            <a:off x="8114907" y="4515711"/>
            <a:ext cx="415217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>
                <a:solidFill>
                  <a:srgbClr val="66422B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REFERENCE STANDARD</a:t>
            </a:r>
          </a:p>
          <a:p>
            <a:pPr algn="ctr"/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Diverticular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disease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(Class 0)</a:t>
            </a:r>
          </a:p>
          <a:p>
            <a:pPr algn="ctr"/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Colorectal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sz="2000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cancer</a:t>
            </a:r>
            <a:r>
              <a:rPr lang="it-IT" sz="2000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(Class 1)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BCD7CFD4-9A19-B814-9DCC-C801B65AAFF7}"/>
              </a:ext>
            </a:extLst>
          </p:cNvPr>
          <p:cNvSpPr txBox="1"/>
          <p:nvPr/>
        </p:nvSpPr>
        <p:spPr>
          <a:xfrm>
            <a:off x="2429368" y="5827581"/>
            <a:ext cx="2018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Second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manual</a:t>
            </a:r>
            <a:r>
              <a:rPr lang="it-IT" dirty="0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</a:t>
            </a:r>
            <a:r>
              <a:rPr lang="it-IT" dirty="0" err="1">
                <a:solidFill>
                  <a:srgbClr val="66422B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segmentation</a:t>
            </a:r>
            <a:endParaRPr lang="it-IT" dirty="0">
              <a:solidFill>
                <a:srgbClr val="66422B"/>
              </a:solidFill>
              <a:latin typeface="SF Pro Display" pitchFamily="2" charset="0"/>
              <a:ea typeface="SF Pro Display" pitchFamily="2" charset="0"/>
              <a:cs typeface="SF Pro Display" pitchFamily="2" charset="0"/>
            </a:endParaRPr>
          </a:p>
        </p:txBody>
      </p:sp>
      <p:pic>
        <p:nvPicPr>
          <p:cNvPr id="24" name="Elemento grafico 23" descr="Gruppo di persone contorno">
            <a:extLst>
              <a:ext uri="{FF2B5EF4-FFF2-40B4-BE49-F238E27FC236}">
                <a16:creationId xmlns:a16="http://schemas.microsoft.com/office/drawing/2014/main" id="{CB15AB5A-A259-5AA7-958A-192F8E8C718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147100" y="4390092"/>
            <a:ext cx="583011" cy="583011"/>
          </a:xfrm>
          <a:prstGeom prst="rect">
            <a:avLst/>
          </a:prstGeom>
        </p:spPr>
      </p:pic>
      <p:cxnSp>
        <p:nvCxnSpPr>
          <p:cNvPr id="35" name="Connettore diritto a freccia 34">
            <a:extLst>
              <a:ext uri="{FF2B5EF4-FFF2-40B4-BE49-F238E27FC236}">
                <a16:creationId xmlns:a16="http://schemas.microsoft.com/office/drawing/2014/main" id="{69C16F9A-C686-56A8-E207-2F822EAEF9B1}"/>
              </a:ext>
            </a:extLst>
          </p:cNvPr>
          <p:cNvCxnSpPr/>
          <p:nvPr/>
        </p:nvCxnSpPr>
        <p:spPr>
          <a:xfrm>
            <a:off x="3455894" y="5094139"/>
            <a:ext cx="0" cy="690195"/>
          </a:xfrm>
          <a:prstGeom prst="straightConnector1">
            <a:avLst/>
          </a:prstGeom>
          <a:ln w="28575">
            <a:solidFill>
              <a:srgbClr val="66422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Elemento grafico 47" descr="Database con riempimento a tinta unita">
            <a:extLst>
              <a:ext uri="{FF2B5EF4-FFF2-40B4-BE49-F238E27FC236}">
                <a16:creationId xmlns:a16="http://schemas.microsoft.com/office/drawing/2014/main" id="{6DB00086-23E7-0DB2-A666-D33A891F2CC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960340" y="1446511"/>
            <a:ext cx="376637" cy="3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30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A04A9-C43A-F250-3B93-9FFCC76D3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ttangolo 33">
            <a:extLst>
              <a:ext uri="{FF2B5EF4-FFF2-40B4-BE49-F238E27FC236}">
                <a16:creationId xmlns:a16="http://schemas.microsoft.com/office/drawing/2014/main" id="{5429D5BA-31E7-4D3D-4CB2-3E3D123566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3000">
                <a:srgbClr val="FCF4EF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D9E2C219-1B11-84A3-F7CA-4DB7A38D2E1A}"/>
              </a:ext>
            </a:extLst>
          </p:cNvPr>
          <p:cNvGrpSpPr/>
          <p:nvPr/>
        </p:nvGrpSpPr>
        <p:grpSpPr>
          <a:xfrm>
            <a:off x="5968410" y="-3395870"/>
            <a:ext cx="4321215" cy="8786443"/>
            <a:chOff x="4267200" y="-2086706"/>
            <a:chExt cx="4321215" cy="8786443"/>
          </a:xfrm>
          <a:scene3d>
            <a:camera prst="isometricTopUp"/>
            <a:lightRig rig="threePt" dir="t"/>
          </a:scene3d>
        </p:grpSpPr>
        <p:sp>
          <p:nvSpPr>
            <p:cNvPr id="2" name="Arco a blocco 1">
              <a:extLst>
                <a:ext uri="{FF2B5EF4-FFF2-40B4-BE49-F238E27FC236}">
                  <a16:creationId xmlns:a16="http://schemas.microsoft.com/office/drawing/2014/main" id="{0D59069B-0DDB-7760-71B7-682D367A7C76}"/>
                </a:ext>
              </a:extLst>
            </p:cNvPr>
            <p:cNvSpPr/>
            <p:nvPr/>
          </p:nvSpPr>
          <p:spPr>
            <a:xfrm rot="5400000">
              <a:off x="4654060" y="404447"/>
              <a:ext cx="1934307" cy="1828800"/>
            </a:xfrm>
            <a:prstGeom prst="blockArc">
              <a:avLst>
                <a:gd name="adj1" fmla="val 10800000"/>
                <a:gd name="adj2" fmla="val 25838"/>
                <a:gd name="adj3" fmla="val 2541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3" name="Arco a blocco 2">
              <a:extLst>
                <a:ext uri="{FF2B5EF4-FFF2-40B4-BE49-F238E27FC236}">
                  <a16:creationId xmlns:a16="http://schemas.microsoft.com/office/drawing/2014/main" id="{735B8070-C794-62C4-1014-25DB680FD958}"/>
                </a:ext>
              </a:extLst>
            </p:cNvPr>
            <p:cNvSpPr/>
            <p:nvPr/>
          </p:nvSpPr>
          <p:spPr>
            <a:xfrm rot="5400000">
              <a:off x="5128846" y="3346938"/>
              <a:ext cx="1934307" cy="1828800"/>
            </a:xfrm>
            <a:prstGeom prst="blockArc">
              <a:avLst>
                <a:gd name="adj1" fmla="val 10800000"/>
                <a:gd name="adj2" fmla="val 65002"/>
                <a:gd name="adj3" fmla="val 253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4" name="Arco a blocco 3">
              <a:extLst>
                <a:ext uri="{FF2B5EF4-FFF2-40B4-BE49-F238E27FC236}">
                  <a16:creationId xmlns:a16="http://schemas.microsoft.com/office/drawing/2014/main" id="{278489EA-2C13-27A2-8000-7EF21D9B5853}"/>
                </a:ext>
              </a:extLst>
            </p:cNvPr>
            <p:cNvSpPr/>
            <p:nvPr/>
          </p:nvSpPr>
          <p:spPr>
            <a:xfrm rot="16200000">
              <a:off x="4343402" y="1875692"/>
              <a:ext cx="1934307" cy="1828800"/>
            </a:xfrm>
            <a:prstGeom prst="blockArc">
              <a:avLst>
                <a:gd name="adj1" fmla="val 10800000"/>
                <a:gd name="adj2" fmla="val 0"/>
                <a:gd name="adj3" fmla="val 25414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7" name="Arco a blocco 6">
              <a:extLst>
                <a:ext uri="{FF2B5EF4-FFF2-40B4-BE49-F238E27FC236}">
                  <a16:creationId xmlns:a16="http://schemas.microsoft.com/office/drawing/2014/main" id="{D17718B1-57B4-22C6-ACFB-CA0FA22F119F}"/>
                </a:ext>
              </a:extLst>
            </p:cNvPr>
            <p:cNvSpPr/>
            <p:nvPr/>
          </p:nvSpPr>
          <p:spPr>
            <a:xfrm rot="16200000">
              <a:off x="4214446" y="4818183"/>
              <a:ext cx="1934307" cy="1828800"/>
            </a:xfrm>
            <a:prstGeom prst="blockArc">
              <a:avLst>
                <a:gd name="adj1" fmla="val 10800000"/>
                <a:gd name="adj2" fmla="val 43347"/>
                <a:gd name="adj3" fmla="val 25345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E3F8DA6A-274F-72BE-1718-D8F0A0EF6286}"/>
                </a:ext>
              </a:extLst>
            </p:cNvPr>
            <p:cNvSpPr/>
            <p:nvPr/>
          </p:nvSpPr>
          <p:spPr>
            <a:xfrm>
              <a:off x="5310555" y="1822938"/>
              <a:ext cx="310658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C2E976B4-126D-D985-293C-E7E6389FA47C}"/>
                </a:ext>
              </a:extLst>
            </p:cNvPr>
            <p:cNvSpPr/>
            <p:nvPr/>
          </p:nvSpPr>
          <p:spPr>
            <a:xfrm>
              <a:off x="5310554" y="3294183"/>
              <a:ext cx="785445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AD9A8F42-03DC-3196-37F7-BF1F711D16CE}"/>
                </a:ext>
              </a:extLst>
            </p:cNvPr>
            <p:cNvSpPr/>
            <p:nvPr/>
          </p:nvSpPr>
          <p:spPr>
            <a:xfrm>
              <a:off x="5181599" y="4765428"/>
              <a:ext cx="914400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E3C5D303-5FAF-AC34-9529-8891D5805299}"/>
                </a:ext>
              </a:extLst>
            </p:cNvPr>
            <p:cNvSpPr/>
            <p:nvPr/>
          </p:nvSpPr>
          <p:spPr>
            <a:xfrm>
              <a:off x="5181599" y="6236674"/>
              <a:ext cx="3406816" cy="46306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Arco a blocco 11">
              <a:extLst>
                <a:ext uri="{FF2B5EF4-FFF2-40B4-BE49-F238E27FC236}">
                  <a16:creationId xmlns:a16="http://schemas.microsoft.com/office/drawing/2014/main" id="{932F02A0-1B83-E505-991F-C10EE2122A2D}"/>
                </a:ext>
              </a:extLst>
            </p:cNvPr>
            <p:cNvSpPr/>
            <p:nvPr/>
          </p:nvSpPr>
          <p:spPr>
            <a:xfrm rot="16200000">
              <a:off x="4654059" y="-1066799"/>
              <a:ext cx="1934307" cy="1828800"/>
            </a:xfrm>
            <a:prstGeom prst="blockArc">
              <a:avLst>
                <a:gd name="adj1" fmla="val 10800000"/>
                <a:gd name="adj2" fmla="val 16330417"/>
                <a:gd name="adj3" fmla="val 251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>
                <a:solidFill>
                  <a:schemeClr val="tx1"/>
                </a:solidFill>
              </a:endParaRP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60608EDC-6334-7DE9-45A2-F86D3726D226}"/>
                </a:ext>
              </a:extLst>
            </p:cNvPr>
            <p:cNvSpPr/>
            <p:nvPr/>
          </p:nvSpPr>
          <p:spPr>
            <a:xfrm>
              <a:off x="4706811" y="-2086706"/>
              <a:ext cx="458914" cy="1950181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20" name="Rettangolo 19">
            <a:extLst>
              <a:ext uri="{FF2B5EF4-FFF2-40B4-BE49-F238E27FC236}">
                <a16:creationId xmlns:a16="http://schemas.microsoft.com/office/drawing/2014/main" id="{DCC31D40-0754-B51A-34C4-1DBCAAD1154B}"/>
              </a:ext>
            </a:extLst>
          </p:cNvPr>
          <p:cNvSpPr/>
          <p:nvPr/>
        </p:nvSpPr>
        <p:spPr>
          <a:xfrm>
            <a:off x="2490217" y="0"/>
            <a:ext cx="6096000" cy="6869921"/>
          </a:xfrm>
          <a:prstGeom prst="rect">
            <a:avLst/>
          </a:prstGeom>
          <a:gradFill>
            <a:gsLst>
              <a:gs pos="0">
                <a:srgbClr val="FCF4EF"/>
              </a:gs>
              <a:gs pos="25000">
                <a:schemeClr val="bg1"/>
              </a:gs>
              <a:gs pos="50000">
                <a:schemeClr val="bg1">
                  <a:alpha val="9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51E9BBC-C6B9-B59D-E291-4F995884F1A5}"/>
              </a:ext>
            </a:extLst>
          </p:cNvPr>
          <p:cNvSpPr txBox="1"/>
          <p:nvPr/>
        </p:nvSpPr>
        <p:spPr>
          <a:xfrm>
            <a:off x="264617" y="297437"/>
            <a:ext cx="61434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it-IT" sz="4000" dirty="0">
                <a:solidFill>
                  <a:srgbClr val="523624"/>
                </a:solidFill>
                <a:latin typeface="Hiragino Kaku Gothic StdN W8" panose="020B0800000000000000" pitchFamily="34" charset="-128"/>
                <a:ea typeface="Hiragino Kaku Gothic StdN W8" panose="020B0800000000000000" pitchFamily="34" charset="-128"/>
                <a:cs typeface="SF Pro Display" pitchFamily="2" charset="0"/>
              </a:rPr>
              <a:t>Definition of CS            and TS</a:t>
            </a:r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EB78EAFF-ABE8-496C-C81E-6DAA04CC405D}"/>
              </a:ext>
            </a:extLst>
          </p:cNvPr>
          <p:cNvSpPr/>
          <p:nvPr/>
        </p:nvSpPr>
        <p:spPr>
          <a:xfrm>
            <a:off x="6966915" y="181318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E6AA2F49-B58C-9E03-21E5-E3BEDD7AA3F6}"/>
              </a:ext>
            </a:extLst>
          </p:cNvPr>
          <p:cNvSpPr/>
          <p:nvPr/>
        </p:nvSpPr>
        <p:spPr>
          <a:xfrm>
            <a:off x="6839741" y="1212496"/>
            <a:ext cx="654706" cy="654706"/>
          </a:xfrm>
          <a:prstGeom prst="ellipse">
            <a:avLst/>
          </a:prstGeom>
          <a:solidFill>
            <a:srgbClr val="E9B18E"/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E54426AA-74D4-E730-92E5-303DC14F3DEA}"/>
              </a:ext>
            </a:extLst>
          </p:cNvPr>
          <p:cNvSpPr/>
          <p:nvPr/>
        </p:nvSpPr>
        <p:spPr>
          <a:xfrm>
            <a:off x="7347913" y="75756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D989553E-33C2-AB50-E135-842B8531BF7C}"/>
              </a:ext>
            </a:extLst>
          </p:cNvPr>
          <p:cNvSpPr/>
          <p:nvPr/>
        </p:nvSpPr>
        <p:spPr>
          <a:xfrm>
            <a:off x="8125025" y="179112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6D5FEBA8-5C0A-E367-E57F-2609532ED77B}"/>
              </a:ext>
            </a:extLst>
          </p:cNvPr>
          <p:cNvSpPr/>
          <p:nvPr/>
        </p:nvSpPr>
        <p:spPr>
          <a:xfrm>
            <a:off x="9640459" y="1628446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Ovale 39">
            <a:extLst>
              <a:ext uri="{FF2B5EF4-FFF2-40B4-BE49-F238E27FC236}">
                <a16:creationId xmlns:a16="http://schemas.microsoft.com/office/drawing/2014/main" id="{43186695-8752-64C1-AEF9-204B4E0017F7}"/>
              </a:ext>
            </a:extLst>
          </p:cNvPr>
          <p:cNvSpPr/>
          <p:nvPr/>
        </p:nvSpPr>
        <p:spPr>
          <a:xfrm>
            <a:off x="9042142" y="2428464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Ovale 40">
            <a:extLst>
              <a:ext uri="{FF2B5EF4-FFF2-40B4-BE49-F238E27FC236}">
                <a16:creationId xmlns:a16="http://schemas.microsoft.com/office/drawing/2014/main" id="{02A7E565-915D-12F7-73CA-A3276B73546A}"/>
              </a:ext>
            </a:extLst>
          </p:cNvPr>
          <p:cNvSpPr/>
          <p:nvPr/>
        </p:nvSpPr>
        <p:spPr>
          <a:xfrm>
            <a:off x="9199561" y="319143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Ovale 41">
            <a:extLst>
              <a:ext uri="{FF2B5EF4-FFF2-40B4-BE49-F238E27FC236}">
                <a16:creationId xmlns:a16="http://schemas.microsoft.com/office/drawing/2014/main" id="{4DDE2125-E9CE-F14C-A1D6-94A669CF2B5B}"/>
              </a:ext>
            </a:extLst>
          </p:cNvPr>
          <p:cNvSpPr/>
          <p:nvPr/>
        </p:nvSpPr>
        <p:spPr>
          <a:xfrm>
            <a:off x="10239588" y="2989229"/>
            <a:ext cx="363489" cy="156629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57855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5DC15BA9-936B-6966-E7BE-96687AE9A8F4}"/>
              </a:ext>
            </a:extLst>
          </p:cNvPr>
          <p:cNvSpPr/>
          <p:nvPr/>
        </p:nvSpPr>
        <p:spPr>
          <a:xfrm>
            <a:off x="11146971" y="2360447"/>
            <a:ext cx="628138" cy="209365"/>
          </a:xfrm>
          <a:prstGeom prst="ellipse">
            <a:avLst/>
          </a:prstGeom>
          <a:solidFill>
            <a:schemeClr val="bg1">
              <a:lumMod val="65000"/>
            </a:schemeClr>
          </a:solidFill>
          <a:ln w="41275">
            <a:noFill/>
          </a:ln>
          <a:effectLst>
            <a:softEdge rad="69627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Ovale 25">
            <a:extLst>
              <a:ext uri="{FF2B5EF4-FFF2-40B4-BE49-F238E27FC236}">
                <a16:creationId xmlns:a16="http://schemas.microsoft.com/office/drawing/2014/main" id="{BA771B04-7635-0126-95E4-2718BED67906}"/>
              </a:ext>
            </a:extLst>
          </p:cNvPr>
          <p:cNvSpPr/>
          <p:nvPr/>
        </p:nvSpPr>
        <p:spPr>
          <a:xfrm>
            <a:off x="7262598" y="274815"/>
            <a:ext cx="534117" cy="534117"/>
          </a:xfrm>
          <a:prstGeom prst="ellipse">
            <a:avLst/>
          </a:prstGeom>
          <a:gradFill flip="none" rotWithShape="1">
            <a:gsLst>
              <a:gs pos="0">
                <a:srgbClr val="E9B18E"/>
              </a:gs>
              <a:gs pos="100000">
                <a:srgbClr val="ECBC9E"/>
              </a:gs>
            </a:gsLst>
            <a:lin ang="18900000" scaled="1"/>
            <a:tileRect/>
          </a:gradFill>
          <a:ln w="57150">
            <a:solidFill>
              <a:schemeClr val="bg1">
                <a:alpha val="24468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Ovale 26">
            <a:extLst>
              <a:ext uri="{FF2B5EF4-FFF2-40B4-BE49-F238E27FC236}">
                <a16:creationId xmlns:a16="http://schemas.microsoft.com/office/drawing/2014/main" id="{41323B3B-6398-069D-A111-DB33372785FE}"/>
              </a:ext>
            </a:extLst>
          </p:cNvPr>
          <p:cNvSpPr/>
          <p:nvPr/>
        </p:nvSpPr>
        <p:spPr>
          <a:xfrm>
            <a:off x="9140627" y="2776861"/>
            <a:ext cx="493295" cy="493295"/>
          </a:xfrm>
          <a:prstGeom prst="ellipse">
            <a:avLst/>
          </a:prstGeom>
          <a:solidFill>
            <a:srgbClr val="C98254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A9225688-09E3-C49D-C1F8-A980CB625CAA}"/>
              </a:ext>
            </a:extLst>
          </p:cNvPr>
          <p:cNvSpPr/>
          <p:nvPr/>
        </p:nvSpPr>
        <p:spPr>
          <a:xfrm>
            <a:off x="8055122" y="1373907"/>
            <a:ext cx="493295" cy="493295"/>
          </a:xfrm>
          <a:prstGeom prst="ellipse">
            <a:avLst/>
          </a:prstGeom>
          <a:solidFill>
            <a:srgbClr val="E5A67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Ovale 29">
            <a:extLst>
              <a:ext uri="{FF2B5EF4-FFF2-40B4-BE49-F238E27FC236}">
                <a16:creationId xmlns:a16="http://schemas.microsoft.com/office/drawing/2014/main" id="{2A6D4133-1414-B015-3007-316B5BD3F383}"/>
              </a:ext>
            </a:extLst>
          </p:cNvPr>
          <p:cNvSpPr/>
          <p:nvPr/>
        </p:nvSpPr>
        <p:spPr>
          <a:xfrm>
            <a:off x="8977240" y="2007523"/>
            <a:ext cx="493295" cy="493295"/>
          </a:xfrm>
          <a:prstGeom prst="ellipse">
            <a:avLst/>
          </a:prstGeom>
          <a:solidFill>
            <a:srgbClr val="DF905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31255924-535F-D0C5-0F1E-0E212D1AF887}"/>
              </a:ext>
            </a:extLst>
          </p:cNvPr>
          <p:cNvSpPr/>
          <p:nvPr/>
        </p:nvSpPr>
        <p:spPr>
          <a:xfrm>
            <a:off x="9575557" y="1194607"/>
            <a:ext cx="493295" cy="493295"/>
          </a:xfrm>
          <a:prstGeom prst="ellipse">
            <a:avLst/>
          </a:prstGeom>
          <a:solidFill>
            <a:srgbClr val="E29B6D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FB4BCF8D-4475-B089-0243-40BD13655827}"/>
              </a:ext>
            </a:extLst>
          </p:cNvPr>
          <p:cNvSpPr/>
          <p:nvPr/>
        </p:nvSpPr>
        <p:spPr>
          <a:xfrm>
            <a:off x="11081290" y="1704301"/>
            <a:ext cx="754868" cy="754868"/>
          </a:xfrm>
          <a:prstGeom prst="ellipse">
            <a:avLst/>
          </a:prstGeom>
          <a:solidFill>
            <a:srgbClr val="9C6541">
              <a:alpha val="37133"/>
            </a:srgbClr>
          </a:solidFill>
          <a:ln w="7620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D81DB026-6AB0-61E9-99BA-A0D5263BBE33}"/>
              </a:ext>
            </a:extLst>
          </p:cNvPr>
          <p:cNvSpPr/>
          <p:nvPr/>
        </p:nvSpPr>
        <p:spPr>
          <a:xfrm>
            <a:off x="10174686" y="2574249"/>
            <a:ext cx="493295" cy="493295"/>
          </a:xfrm>
          <a:prstGeom prst="ellipse">
            <a:avLst/>
          </a:prstGeom>
          <a:solidFill>
            <a:srgbClr val="B2734A">
              <a:alpha val="37133"/>
            </a:srgbClr>
          </a:solidFill>
          <a:ln w="57150">
            <a:solidFill>
              <a:schemeClr val="bg1">
                <a:alpha val="2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6F1CF912-4CD1-3DEA-07ED-7CE3163EE348}"/>
              </a:ext>
            </a:extLst>
          </p:cNvPr>
          <p:cNvSpPr/>
          <p:nvPr/>
        </p:nvSpPr>
        <p:spPr>
          <a:xfrm>
            <a:off x="-10911840" y="3145327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3898BD48-85FD-7C11-45EF-69DB98ED1817}"/>
              </a:ext>
            </a:extLst>
          </p:cNvPr>
          <p:cNvSpPr/>
          <p:nvPr/>
        </p:nvSpPr>
        <p:spPr>
          <a:xfrm>
            <a:off x="-9841567" y="4553015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22D74F81-940B-9291-C013-382C1979F835}"/>
              </a:ext>
            </a:extLst>
          </p:cNvPr>
          <p:cNvSpPr/>
          <p:nvPr/>
        </p:nvSpPr>
        <p:spPr>
          <a:xfrm>
            <a:off x="-8710833" y="594800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9E8C9FBF-D992-0CC8-1263-28A7A29C1014}"/>
              </a:ext>
            </a:extLst>
          </p:cNvPr>
          <p:cNvSpPr/>
          <p:nvPr/>
        </p:nvSpPr>
        <p:spPr>
          <a:xfrm>
            <a:off x="-10236678" y="3854946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6C24C0D7-8205-BDE3-AC93-5BC894A9EB40}"/>
              </a:ext>
            </a:extLst>
          </p:cNvPr>
          <p:cNvSpPr/>
          <p:nvPr/>
        </p:nvSpPr>
        <p:spPr>
          <a:xfrm>
            <a:off x="-9212551" y="5251084"/>
            <a:ext cx="5552309" cy="590468"/>
          </a:xfrm>
          <a:prstGeom prst="roundRect">
            <a:avLst/>
          </a:prstGeom>
          <a:solidFill>
            <a:srgbClr val="B27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9" name="Elemento grafico 48" descr="Stetoscopio con riempimento a tinta unita">
            <a:extLst>
              <a:ext uri="{FF2B5EF4-FFF2-40B4-BE49-F238E27FC236}">
                <a16:creationId xmlns:a16="http://schemas.microsoft.com/office/drawing/2014/main" id="{B4432C2B-ECEC-2ECD-134C-0B12C33266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8679731" y="5981002"/>
            <a:ext cx="501669" cy="501669"/>
          </a:xfrm>
          <a:prstGeom prst="rect">
            <a:avLst/>
          </a:prstGeom>
        </p:spPr>
      </p:pic>
      <p:pic>
        <p:nvPicPr>
          <p:cNvPr id="51" name="Elemento grafico 50" descr="Braccio muscoloso con riempimento a tinta unita">
            <a:extLst>
              <a:ext uri="{FF2B5EF4-FFF2-40B4-BE49-F238E27FC236}">
                <a16:creationId xmlns:a16="http://schemas.microsoft.com/office/drawing/2014/main" id="{14D21346-F602-AA6E-2A43-28425B05E8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9156503" y="5272750"/>
            <a:ext cx="511584" cy="511584"/>
          </a:xfrm>
          <a:prstGeom prst="rect">
            <a:avLst/>
          </a:prstGeom>
        </p:spPr>
      </p:pic>
      <p:pic>
        <p:nvPicPr>
          <p:cNvPr id="53" name="Elemento grafico 52" descr="Badge Segno di spunta con riempimento a tinta unita">
            <a:extLst>
              <a:ext uri="{FF2B5EF4-FFF2-40B4-BE49-F238E27FC236}">
                <a16:creationId xmlns:a16="http://schemas.microsoft.com/office/drawing/2014/main" id="{A1E0331F-FE3D-2D83-A23F-10EA538AED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9790928" y="4564565"/>
            <a:ext cx="539730" cy="539730"/>
          </a:xfrm>
          <a:prstGeom prst="rect">
            <a:avLst/>
          </a:prstGeom>
        </p:spPr>
      </p:pic>
      <p:pic>
        <p:nvPicPr>
          <p:cNvPr id="55" name="Elemento grafico 54" descr="Tris con riempimento a tinta unita">
            <a:extLst>
              <a:ext uri="{FF2B5EF4-FFF2-40B4-BE49-F238E27FC236}">
                <a16:creationId xmlns:a16="http://schemas.microsoft.com/office/drawing/2014/main" id="{BCBD73EA-FF69-B558-9577-02D53539BD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-10188714" y="3864944"/>
            <a:ext cx="547372" cy="547372"/>
          </a:xfrm>
          <a:prstGeom prst="rect">
            <a:avLst/>
          </a:prstGeom>
        </p:spPr>
      </p:pic>
      <p:pic>
        <p:nvPicPr>
          <p:cNvPr id="57" name="Elemento grafico 56" descr="Obiettivo con riempimento a tinta unita">
            <a:extLst>
              <a:ext uri="{FF2B5EF4-FFF2-40B4-BE49-F238E27FC236}">
                <a16:creationId xmlns:a16="http://schemas.microsoft.com/office/drawing/2014/main" id="{F8971355-8654-888F-50A2-55E80FE9EDE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857483" y="3176893"/>
            <a:ext cx="519668" cy="519668"/>
          </a:xfrm>
          <a:prstGeom prst="rect">
            <a:avLst/>
          </a:prstGeom>
        </p:spPr>
      </p:pic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C263BE48-2C71-1425-7731-EF84E5FF27C5}"/>
              </a:ext>
            </a:extLst>
          </p:cNvPr>
          <p:cNvSpPr txBox="1"/>
          <p:nvPr/>
        </p:nvSpPr>
        <p:spPr>
          <a:xfrm>
            <a:off x="-10275422" y="3187034"/>
            <a:ext cx="450480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GOAL: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distinguish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advanced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diverticular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disease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from CRC-like </a:t>
            </a:r>
            <a:r>
              <a:rPr lang="it-IT" altLang="it-IT" sz="1400" b="1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lesions</a:t>
            </a:r>
            <a:r>
              <a:rPr lang="it-IT" altLang="it-IT" sz="1400" b="1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on 3D CT Colonography (CTC)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78700C61-8D1F-06DB-F530-FAEC993853C3}"/>
              </a:ext>
            </a:extLst>
          </p:cNvPr>
          <p:cNvSpPr txBox="1"/>
          <p:nvPr/>
        </p:nvSpPr>
        <p:spPr>
          <a:xfrm>
            <a:off x="-9439468" y="388666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APROACH: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extract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radiomic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features from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manually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segmented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ROIs</a:t>
            </a:r>
            <a:endParaRPr lang="it-IT" alt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BD48223-4728-4A36-F7F6-255AE5237D33}"/>
              </a:ext>
            </a:extLst>
          </p:cNvPr>
          <p:cNvSpPr txBox="1"/>
          <p:nvPr/>
        </p:nvSpPr>
        <p:spPr>
          <a:xfrm>
            <a:off x="-9042877" y="4570919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REALISTIC VALIDATION: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multi-center setting (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generalization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to an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external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center)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E507979B-E7AB-C8AA-2352-F10ED3A9A6E7}"/>
              </a:ext>
            </a:extLst>
          </p:cNvPr>
          <p:cNvSpPr txBox="1"/>
          <p:nvPr/>
        </p:nvSpPr>
        <p:spPr>
          <a:xfrm>
            <a:off x="-8424643" y="5284708"/>
            <a:ext cx="3973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ROBUSTNESS: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assess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inter-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observer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variability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(double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manual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segmentation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)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2B84B086-E35E-0DBF-85E4-39E0C38882C9}"/>
              </a:ext>
            </a:extLst>
          </p:cNvPr>
          <p:cNvSpPr txBox="1"/>
          <p:nvPr/>
        </p:nvSpPr>
        <p:spPr>
          <a:xfrm>
            <a:off x="-8001035" y="5959451"/>
            <a:ext cx="43451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altLang="it-IT" sz="1400" b="1" dirty="0">
                <a:solidFill>
                  <a:srgbClr val="FCF4EF"/>
                </a:solidFill>
                <a:latin typeface="SF Pro Display Heavy" pitchFamily="2" charset="0"/>
                <a:ea typeface="SF Pro Display Heavy" pitchFamily="2" charset="0"/>
                <a:cs typeface="SF Pro Display Heavy" pitchFamily="2" charset="0"/>
              </a:rPr>
              <a:t>EXPECTED CLINICAL IMPACT: 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support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radiologists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and reduce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unnecessary</a:t>
            </a:r>
            <a:r>
              <a:rPr lang="it-IT" altLang="it-IT" sz="1400" dirty="0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 invasive </a:t>
            </a:r>
            <a:r>
              <a:rPr lang="it-IT" altLang="it-IT" sz="1400" dirty="0" err="1">
                <a:solidFill>
                  <a:srgbClr val="FCF4EF"/>
                </a:solidFill>
                <a:latin typeface="SF Pro Display Medium" pitchFamily="2" charset="0"/>
                <a:ea typeface="SF Pro Display Medium" pitchFamily="2" charset="0"/>
                <a:cs typeface="SF Pro Display Medium" pitchFamily="2" charset="0"/>
              </a:rPr>
              <a:t>procedures</a:t>
            </a:r>
            <a:endParaRPr lang="it-IT" sz="1400" dirty="0">
              <a:solidFill>
                <a:srgbClr val="FCF4EF"/>
              </a:solidFill>
              <a:latin typeface="SF Pro Display Medium" pitchFamily="2" charset="0"/>
              <a:ea typeface="SF Pro Display Medium" pitchFamily="2" charset="0"/>
              <a:cs typeface="SF Pro Display Medium" pitchFamily="2" charset="0"/>
            </a:endParaRPr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85C4009E-9536-6930-9117-1E5586257FA4}"/>
              </a:ext>
            </a:extLst>
          </p:cNvPr>
          <p:cNvSpPr/>
          <p:nvPr/>
        </p:nvSpPr>
        <p:spPr>
          <a:xfrm>
            <a:off x="-8939276" y="3145327"/>
            <a:ext cx="2569411" cy="3405554"/>
          </a:xfrm>
          <a:prstGeom prst="rect">
            <a:avLst/>
          </a:prstGeom>
          <a:solidFill>
            <a:srgbClr val="FCF4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" name="Connettore dritto 4">
            <a:extLst>
              <a:ext uri="{FF2B5EF4-FFF2-40B4-BE49-F238E27FC236}">
                <a16:creationId xmlns:a16="http://schemas.microsoft.com/office/drawing/2014/main" id="{B08BA4AE-787E-C114-B74E-4850C1C36DEC}"/>
              </a:ext>
            </a:extLst>
          </p:cNvPr>
          <p:cNvCxnSpPr/>
          <p:nvPr/>
        </p:nvCxnSpPr>
        <p:spPr>
          <a:xfrm>
            <a:off x="-6357165" y="3145327"/>
            <a:ext cx="0" cy="3405554"/>
          </a:xfrm>
          <a:prstGeom prst="line">
            <a:avLst/>
          </a:prstGeom>
          <a:ln w="57150">
            <a:solidFill>
              <a:srgbClr val="714A3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1E73433-BD28-B027-EC75-339F5217CB5B}"/>
              </a:ext>
            </a:extLst>
          </p:cNvPr>
          <p:cNvSpPr txBox="1"/>
          <p:nvPr/>
        </p:nvSpPr>
        <p:spPr>
          <a:xfrm>
            <a:off x="15237389" y="5614401"/>
            <a:ext cx="26469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Svolto da: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Natali Sebastiano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345699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Guadagno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- 349049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Memoli Chiara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345744</a:t>
            </a:r>
          </a:p>
          <a:p>
            <a:pPr algn="ctr"/>
            <a:r>
              <a:rPr lang="it-IT" sz="1200" b="1" i="1" dirty="0" err="1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Ejupi</a:t>
            </a:r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 Eduard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– 347132</a:t>
            </a:r>
          </a:p>
          <a:p>
            <a:pPr algn="ctr"/>
            <a:r>
              <a:rPr lang="it-IT" sz="1200" b="1" i="1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Di Bitonto Giuseppe </a:t>
            </a:r>
            <a:r>
              <a:rPr lang="it-IT" sz="1200" dirty="0">
                <a:solidFill>
                  <a:srgbClr val="523624"/>
                </a:solidFill>
                <a:latin typeface="SF Pro Display" pitchFamily="2" charset="0"/>
                <a:ea typeface="SF Pro Display" pitchFamily="2" charset="0"/>
                <a:cs typeface="SF Pro Display" pitchFamily="2" charset="0"/>
              </a:rPr>
              <a:t>- 347259</a:t>
            </a:r>
          </a:p>
        </p:txBody>
      </p:sp>
      <p:pic>
        <p:nvPicPr>
          <p:cNvPr id="17" name="Elemento grafico 16" descr="Gruppo di uomini con riempimento a tinta unita">
            <a:extLst>
              <a:ext uri="{FF2B5EF4-FFF2-40B4-BE49-F238E27FC236}">
                <a16:creationId xmlns:a16="http://schemas.microsoft.com/office/drawing/2014/main" id="{818F2926-3D8A-4625-E2E0-87FFFA37A8F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56374" y="363887"/>
            <a:ext cx="352665" cy="352665"/>
          </a:xfrm>
          <a:prstGeom prst="rect">
            <a:avLst/>
          </a:prstGeom>
        </p:spPr>
      </p:pic>
      <p:pic>
        <p:nvPicPr>
          <p:cNvPr id="25" name="Elemento grafico 24" descr="Database con riempimento a tinta unita">
            <a:extLst>
              <a:ext uri="{FF2B5EF4-FFF2-40B4-BE49-F238E27FC236}">
                <a16:creationId xmlns:a16="http://schemas.microsoft.com/office/drawing/2014/main" id="{F859B953-23CE-2539-AD2A-68BCB648D97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900270" y="1277523"/>
            <a:ext cx="534474" cy="53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38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1530</Words>
  <Application>Microsoft Macintosh PowerPoint</Application>
  <PresentationFormat>Widescreen</PresentationFormat>
  <Paragraphs>237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5" baseType="lpstr">
      <vt:lpstr>Hiragino Kaku Gothic StdN W8</vt:lpstr>
      <vt:lpstr>Aptos</vt:lpstr>
      <vt:lpstr>Aptos Display</vt:lpstr>
      <vt:lpstr>Arial</vt:lpstr>
      <vt:lpstr>SF Pro Display</vt:lpstr>
      <vt:lpstr>SF Pro Display Black</vt:lpstr>
      <vt:lpstr>SF Pro Display Heavy</vt:lpstr>
      <vt:lpstr>SF Pro Display Medium</vt:lpstr>
      <vt:lpstr>SF PRO DISPLAY THIN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BITONTO GIUSEPPE</dc:creator>
  <cp:lastModifiedBy>DI BITONTO GIUSEPPE</cp:lastModifiedBy>
  <cp:revision>113</cp:revision>
  <dcterms:created xsi:type="dcterms:W3CDTF">2026-01-05T14:25:15Z</dcterms:created>
  <dcterms:modified xsi:type="dcterms:W3CDTF">2026-01-06T20:46:07Z</dcterms:modified>
</cp:coreProperties>
</file>